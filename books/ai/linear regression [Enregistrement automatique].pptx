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75" r:id="rId2"/>
    <p:sldId id="257" r:id="rId3"/>
    <p:sldId id="264" r:id="rId4"/>
    <p:sldId id="276" r:id="rId5"/>
    <p:sldId id="260" r:id="rId6"/>
    <p:sldId id="258" r:id="rId7"/>
    <p:sldId id="261" r:id="rId8"/>
    <p:sldId id="262" r:id="rId9"/>
    <p:sldId id="263" r:id="rId10"/>
    <p:sldId id="265" r:id="rId11"/>
    <p:sldId id="266" r:id="rId12"/>
    <p:sldId id="268" r:id="rId13"/>
    <p:sldId id="267"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33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6120" autoAdjust="0"/>
  </p:normalViewPr>
  <p:slideViewPr>
    <p:cSldViewPr snapToGrid="0">
      <p:cViewPr varScale="1">
        <p:scale>
          <a:sx n="85" d="100"/>
          <a:sy n="85" d="100"/>
        </p:scale>
        <p:origin x="590" y="58"/>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9F901F-3666-4AEE-AC8D-9E07A2C2DC62}" type="datetimeFigureOut">
              <a:rPr lang="en-US" smtClean="0"/>
              <a:t>12/7/2023</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F0EC7D-57EA-49C2-88D4-AF04B60B1694}" type="slidenum">
              <a:rPr lang="en-US" smtClean="0"/>
              <a:t>‹N°›</a:t>
            </a:fld>
            <a:endParaRPr lang="en-US"/>
          </a:p>
        </p:txBody>
      </p:sp>
    </p:spTree>
    <p:extLst>
      <p:ext uri="{BB962C8B-B14F-4D97-AF65-F5344CB8AC3E}">
        <p14:creationId xmlns:p14="http://schemas.microsoft.com/office/powerpoint/2010/main" val="7472349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A1F0EC7D-57EA-49C2-88D4-AF04B60B1694}" type="slidenum">
              <a:rPr lang="en-US" smtClean="0"/>
              <a:t>2</a:t>
            </a:fld>
            <a:endParaRPr lang="en-US"/>
          </a:p>
        </p:txBody>
      </p:sp>
    </p:spTree>
    <p:extLst>
      <p:ext uri="{BB962C8B-B14F-4D97-AF65-F5344CB8AC3E}">
        <p14:creationId xmlns:p14="http://schemas.microsoft.com/office/powerpoint/2010/main" val="2350745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algn="just">
              <a:buFont typeface="+mj-lt"/>
              <a:buAutoNum type="arabicPeriod"/>
            </a:pPr>
            <a:r>
              <a:rPr lang="en-US" b="1" i="0" dirty="0">
                <a:solidFill>
                  <a:srgbClr val="222222"/>
                </a:solidFill>
                <a:effectLst/>
                <a:latin typeface="Lato" panose="020F0502020204030203" pitchFamily="34" charset="0"/>
              </a:rPr>
              <a:t> Linearity of residuals</a:t>
            </a:r>
            <a:r>
              <a:rPr lang="en-US" b="0" i="0" dirty="0">
                <a:solidFill>
                  <a:srgbClr val="222222"/>
                </a:solidFill>
                <a:effectLst/>
                <a:latin typeface="Lato" panose="020F0502020204030203" pitchFamily="34" charset="0"/>
              </a:rPr>
              <a:t>: There needs to be a linear relationship between the dependent variable and independent variable(s).</a:t>
            </a:r>
          </a:p>
          <a:p>
            <a:r>
              <a:rPr lang="en-US" b="0" i="1" dirty="0">
                <a:solidFill>
                  <a:srgbClr val="222222"/>
                </a:solidFill>
                <a:effectLst/>
                <a:latin typeface="Lato" panose="020F0502020204030203" pitchFamily="34" charset="0"/>
              </a:rPr>
              <a:t>2. </a:t>
            </a:r>
            <a:r>
              <a:rPr lang="en-US" b="1" i="0" u="sng" dirty="0">
                <a:solidFill>
                  <a:srgbClr val="222222"/>
                </a:solidFill>
                <a:effectLst/>
                <a:latin typeface="Lato" panose="020F0502020204030203" pitchFamily="34" charset="0"/>
              </a:rPr>
              <a:t>Independence of residuals: </a:t>
            </a:r>
            <a:r>
              <a:rPr lang="en-US" b="0" i="0" dirty="0">
                <a:solidFill>
                  <a:srgbClr val="222222"/>
                </a:solidFill>
                <a:effectLst/>
                <a:latin typeface="Lato" panose="020F0502020204030203" pitchFamily="34" charset="0"/>
              </a:rPr>
              <a:t>The error terms should not be dependent on one another (like in time-series data wherein the next value is dependent on the previous one). There should be no correlation between the residual terms. The absence of this phenomenon is known as </a:t>
            </a:r>
            <a:r>
              <a:rPr lang="en-US" b="1" i="0" dirty="0">
                <a:solidFill>
                  <a:srgbClr val="222222"/>
                </a:solidFill>
                <a:effectLst/>
                <a:latin typeface="Lato" panose="020F0502020204030203" pitchFamily="34" charset="0"/>
              </a:rPr>
              <a:t>Autocorrelation.</a:t>
            </a:r>
          </a:p>
          <a:p>
            <a:r>
              <a:rPr lang="en-US" b="1" i="0" dirty="0">
                <a:solidFill>
                  <a:srgbClr val="222222"/>
                </a:solidFill>
                <a:effectLst/>
                <a:latin typeface="Lato" panose="020F0502020204030203" pitchFamily="34" charset="0"/>
              </a:rPr>
              <a:t>3. </a:t>
            </a:r>
            <a:r>
              <a:rPr lang="en-US" b="1" i="0" u="sng" dirty="0">
                <a:solidFill>
                  <a:srgbClr val="222222"/>
                </a:solidFill>
                <a:effectLst/>
                <a:latin typeface="Lato" panose="020F0502020204030203" pitchFamily="34" charset="0"/>
              </a:rPr>
              <a:t>Normal distribution of residuals:</a:t>
            </a:r>
            <a:r>
              <a:rPr lang="en-US" b="0" i="0" dirty="0">
                <a:solidFill>
                  <a:srgbClr val="222222"/>
                </a:solidFill>
                <a:effectLst/>
                <a:latin typeface="Lato" panose="020F0502020204030203" pitchFamily="34" charset="0"/>
              </a:rPr>
              <a:t> The mean of residuals should follow a normal distribution with a mean equal to zero or close to zero. This is done in order to check whether the selected line is actually the line of best fit or not. </a:t>
            </a:r>
          </a:p>
          <a:p>
            <a:r>
              <a:rPr lang="en-US" b="1" i="0" dirty="0">
                <a:solidFill>
                  <a:srgbClr val="222222"/>
                </a:solidFill>
                <a:effectLst/>
                <a:latin typeface="Lato" panose="020F0502020204030203" pitchFamily="34" charset="0"/>
              </a:rPr>
              <a:t>4. The equal variance of residuals:</a:t>
            </a:r>
            <a:r>
              <a:rPr lang="en-US" b="0" i="0" dirty="0">
                <a:solidFill>
                  <a:srgbClr val="222222"/>
                </a:solidFill>
                <a:effectLst/>
                <a:latin typeface="Lato" panose="020F0502020204030203" pitchFamily="34" charset="0"/>
              </a:rPr>
              <a:t> The error terms must have constant variance. This phenomenon is known as </a:t>
            </a:r>
            <a:r>
              <a:rPr lang="en-US" b="1" i="0" dirty="0">
                <a:solidFill>
                  <a:srgbClr val="222222"/>
                </a:solidFill>
                <a:effectLst/>
                <a:latin typeface="Lato" panose="020F0502020204030203" pitchFamily="34" charset="0"/>
              </a:rPr>
              <a:t>Homoscedasticity</a:t>
            </a:r>
            <a:r>
              <a:rPr lang="en-US" b="0" i="0" dirty="0">
                <a:solidFill>
                  <a:srgbClr val="222222"/>
                </a:solidFill>
                <a:effectLst/>
                <a:latin typeface="Lato" panose="020F0502020204030203" pitchFamily="34" charset="0"/>
              </a:rPr>
              <a:t>.</a:t>
            </a:r>
          </a:p>
          <a:p>
            <a:pPr algn="just"/>
            <a:r>
              <a:rPr lang="en-US" b="0" i="0" dirty="0">
                <a:solidFill>
                  <a:srgbClr val="222222"/>
                </a:solidFill>
                <a:effectLst/>
                <a:latin typeface="Lato" panose="020F0502020204030203" pitchFamily="34" charset="0"/>
              </a:rPr>
              <a:t>The presence of non-constant variance in the error terms is referred to as </a:t>
            </a:r>
            <a:r>
              <a:rPr lang="en-US" b="1" i="0" dirty="0">
                <a:solidFill>
                  <a:srgbClr val="222222"/>
                </a:solidFill>
                <a:effectLst/>
                <a:latin typeface="Lato" panose="020F0502020204030203" pitchFamily="34" charset="0"/>
              </a:rPr>
              <a:t>Heteroscedasticity</a:t>
            </a:r>
            <a:r>
              <a:rPr lang="en-US" b="0" i="0" dirty="0">
                <a:solidFill>
                  <a:srgbClr val="222222"/>
                </a:solidFill>
                <a:effectLst/>
                <a:latin typeface="Lato" panose="020F0502020204030203" pitchFamily="34" charset="0"/>
              </a:rPr>
              <a:t>. Generally, non-constant variance arises in the presence of </a:t>
            </a:r>
            <a:r>
              <a:rPr lang="en-US" b="0" i="1" dirty="0">
                <a:solidFill>
                  <a:srgbClr val="222222"/>
                </a:solidFill>
                <a:effectLst/>
                <a:latin typeface="Lato" panose="020F0502020204030203" pitchFamily="34" charset="0"/>
              </a:rPr>
              <a:t>outliers or extreme leverage values</a:t>
            </a:r>
          </a:p>
          <a:p>
            <a:br>
              <a:rPr lang="en-US" b="0" i="0" dirty="0">
                <a:solidFill>
                  <a:srgbClr val="222222"/>
                </a:solidFill>
                <a:effectLst/>
                <a:latin typeface="Lato" panose="020F0502020204030203" pitchFamily="34" charset="0"/>
              </a:rPr>
            </a:br>
            <a:endParaRPr lang="en-US" dirty="0"/>
          </a:p>
        </p:txBody>
      </p:sp>
      <p:sp>
        <p:nvSpPr>
          <p:cNvPr id="4" name="Espace réservé du numéro de diapositive 3"/>
          <p:cNvSpPr>
            <a:spLocks noGrp="1"/>
          </p:cNvSpPr>
          <p:nvPr>
            <p:ph type="sldNum" sz="quarter" idx="5"/>
          </p:nvPr>
        </p:nvSpPr>
        <p:spPr/>
        <p:txBody>
          <a:bodyPr/>
          <a:lstStyle/>
          <a:p>
            <a:fld id="{A1F0EC7D-57EA-49C2-88D4-AF04B60B1694}" type="slidenum">
              <a:rPr lang="en-US" smtClean="0"/>
              <a:t>3</a:t>
            </a:fld>
            <a:endParaRPr lang="en-US" dirty="0"/>
          </a:p>
        </p:txBody>
      </p:sp>
    </p:spTree>
    <p:extLst>
      <p:ext uri="{BB962C8B-B14F-4D97-AF65-F5344CB8AC3E}">
        <p14:creationId xmlns:p14="http://schemas.microsoft.com/office/powerpoint/2010/main" val="37785007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US" dirty="0"/>
          </a:p>
        </p:txBody>
      </p:sp>
      <p:sp>
        <p:nvSpPr>
          <p:cNvPr id="4" name="Espace réservé du numéro de diapositive 3"/>
          <p:cNvSpPr>
            <a:spLocks noGrp="1"/>
          </p:cNvSpPr>
          <p:nvPr>
            <p:ph type="sldNum" sz="quarter" idx="5"/>
          </p:nvPr>
        </p:nvSpPr>
        <p:spPr/>
        <p:txBody>
          <a:bodyPr/>
          <a:lstStyle/>
          <a:p>
            <a:fld id="{A1F0EC7D-57EA-49C2-88D4-AF04B60B1694}" type="slidenum">
              <a:rPr lang="en-US" smtClean="0"/>
              <a:t>7</a:t>
            </a:fld>
            <a:endParaRPr lang="en-US"/>
          </a:p>
        </p:txBody>
      </p:sp>
    </p:spTree>
    <p:extLst>
      <p:ext uri="{BB962C8B-B14F-4D97-AF65-F5344CB8AC3E}">
        <p14:creationId xmlns:p14="http://schemas.microsoft.com/office/powerpoint/2010/main" val="28302828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Here</a:t>
            </a:r>
            <a:r>
              <a:rPr lang="fr-FR" dirty="0"/>
              <a:t> </a:t>
            </a:r>
            <a:r>
              <a:rPr lang="fr-FR" dirty="0" err="1"/>
              <a:t>we</a:t>
            </a:r>
            <a:r>
              <a:rPr lang="fr-FR" dirty="0"/>
              <a:t> have an </a:t>
            </a:r>
            <a:r>
              <a:rPr lang="fr-FR" dirty="0" err="1"/>
              <a:t>example</a:t>
            </a:r>
            <a:r>
              <a:rPr lang="fr-FR" dirty="0"/>
              <a:t> of a </a:t>
            </a:r>
            <a:r>
              <a:rPr lang="fr-FR" dirty="0" err="1"/>
              <a:t>dateset</a:t>
            </a:r>
            <a:r>
              <a:rPr lang="fr-FR" dirty="0"/>
              <a:t> of the test score of </a:t>
            </a:r>
            <a:r>
              <a:rPr lang="fr-FR" dirty="0" err="1"/>
              <a:t>student</a:t>
            </a:r>
            <a:r>
              <a:rPr lang="fr-FR" dirty="0"/>
              <a:t> </a:t>
            </a:r>
            <a:r>
              <a:rPr lang="fr-FR" dirty="0" err="1"/>
              <a:t>based</a:t>
            </a:r>
            <a:r>
              <a:rPr lang="fr-FR" dirty="0"/>
              <a:t> on </a:t>
            </a:r>
            <a:r>
              <a:rPr lang="fr-FR" dirty="0" err="1"/>
              <a:t>there</a:t>
            </a:r>
            <a:r>
              <a:rPr lang="fr-FR" dirty="0"/>
              <a:t> time </a:t>
            </a:r>
            <a:r>
              <a:rPr lang="fr-FR" dirty="0" err="1"/>
              <a:t>watching</a:t>
            </a:r>
            <a:r>
              <a:rPr lang="fr-FR" dirty="0"/>
              <a:t> TV ,</a:t>
            </a:r>
          </a:p>
          <a:p>
            <a:r>
              <a:rPr lang="en-US" b="0" i="0" dirty="0">
                <a:solidFill>
                  <a:srgbClr val="ECECF1"/>
                </a:solidFill>
                <a:effectLst/>
                <a:latin typeface="Söhne"/>
              </a:rPr>
              <a:t>By applying the rules of linear regression, we can find the slope (m) and y-intercept (b) to create an equation (y)</a:t>
            </a:r>
          </a:p>
          <a:p>
            <a:r>
              <a:rPr lang="en-US" b="0" i="0" dirty="0">
                <a:solidFill>
                  <a:srgbClr val="ECECF1"/>
                </a:solidFill>
                <a:effectLst/>
                <a:latin typeface="Söhne"/>
              </a:rPr>
              <a:t>Then we draw the corresponding line on the curve</a:t>
            </a:r>
            <a:endParaRPr lang="fr-FR" b="0" i="0" dirty="0">
              <a:solidFill>
                <a:srgbClr val="ECECF1"/>
              </a:solidFill>
              <a:effectLst/>
              <a:latin typeface="Söhne"/>
            </a:endParaRPr>
          </a:p>
          <a:p>
            <a:endParaRPr lang="en-US" dirty="0"/>
          </a:p>
        </p:txBody>
      </p:sp>
      <p:sp>
        <p:nvSpPr>
          <p:cNvPr id="4" name="Espace réservé du numéro de diapositive 3"/>
          <p:cNvSpPr>
            <a:spLocks noGrp="1"/>
          </p:cNvSpPr>
          <p:nvPr>
            <p:ph type="sldNum" sz="quarter" idx="5"/>
          </p:nvPr>
        </p:nvSpPr>
        <p:spPr/>
        <p:txBody>
          <a:bodyPr/>
          <a:lstStyle/>
          <a:p>
            <a:fld id="{A1F0EC7D-57EA-49C2-88D4-AF04B60B1694}" type="slidenum">
              <a:rPr lang="en-US" smtClean="0"/>
              <a:t>8</a:t>
            </a:fld>
            <a:endParaRPr lang="en-US"/>
          </a:p>
        </p:txBody>
      </p:sp>
    </p:spTree>
    <p:extLst>
      <p:ext uri="{BB962C8B-B14F-4D97-AF65-F5344CB8AC3E}">
        <p14:creationId xmlns:p14="http://schemas.microsoft.com/office/powerpoint/2010/main" val="40280876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Now</a:t>
            </a:r>
            <a:r>
              <a:rPr lang="fr-FR" dirty="0"/>
              <a:t> </a:t>
            </a:r>
            <a:r>
              <a:rPr lang="fr-FR" dirty="0" err="1"/>
              <a:t>let’s</a:t>
            </a:r>
            <a:r>
              <a:rPr lang="fr-FR" dirty="0"/>
              <a:t> move on to </a:t>
            </a:r>
            <a:r>
              <a:rPr lang="fr-FR" dirty="0" err="1"/>
              <a:t>coding</a:t>
            </a:r>
            <a:r>
              <a:rPr lang="fr-FR" dirty="0"/>
              <a:t> part </a:t>
            </a:r>
          </a:p>
          <a:p>
            <a:r>
              <a:rPr lang="fr-FR" dirty="0" err="1"/>
              <a:t>Here</a:t>
            </a:r>
            <a:r>
              <a:rPr lang="fr-FR" dirty="0"/>
              <a:t> </a:t>
            </a:r>
            <a:r>
              <a:rPr lang="fr-FR" dirty="0" err="1"/>
              <a:t>we</a:t>
            </a:r>
            <a:r>
              <a:rPr lang="fr-FR" dirty="0"/>
              <a:t> </a:t>
            </a:r>
            <a:r>
              <a:rPr lang="fr-FR" dirty="0" err="1"/>
              <a:t>will</a:t>
            </a:r>
            <a:r>
              <a:rPr lang="fr-FR" dirty="0"/>
              <a:t> use </a:t>
            </a:r>
            <a:r>
              <a:rPr lang="fr-FR" dirty="0" err="1"/>
              <a:t>dataset</a:t>
            </a:r>
            <a:r>
              <a:rPr lang="fr-FR" dirty="0"/>
              <a:t> </a:t>
            </a:r>
            <a:r>
              <a:rPr lang="fr-FR" dirty="0" err="1"/>
              <a:t>that</a:t>
            </a:r>
            <a:r>
              <a:rPr lang="fr-FR" dirty="0"/>
              <a:t> </a:t>
            </a:r>
            <a:r>
              <a:rPr lang="fr-FR" dirty="0" err="1"/>
              <a:t>contain</a:t>
            </a:r>
            <a:r>
              <a:rPr lang="fr-FR" dirty="0"/>
              <a:t> </a:t>
            </a:r>
            <a:r>
              <a:rPr lang="fr-FR" dirty="0" err="1"/>
              <a:t>features</a:t>
            </a:r>
            <a:r>
              <a:rPr lang="fr-FR" dirty="0"/>
              <a:t> of the </a:t>
            </a:r>
            <a:r>
              <a:rPr lang="fr-FR" dirty="0" err="1"/>
              <a:t>weather</a:t>
            </a:r>
            <a:r>
              <a:rPr lang="fr-FR" dirty="0"/>
              <a:t> in </a:t>
            </a:r>
            <a:r>
              <a:rPr lang="fr-FR" dirty="0" err="1"/>
              <a:t>order</a:t>
            </a:r>
            <a:r>
              <a:rPr lang="fr-FR" dirty="0"/>
              <a:t> to </a:t>
            </a:r>
            <a:r>
              <a:rPr lang="en-US" b="0" i="0" dirty="0">
                <a:solidFill>
                  <a:srgbClr val="ECECF1"/>
                </a:solidFill>
                <a:effectLst/>
                <a:latin typeface="Söhne"/>
              </a:rPr>
              <a:t>analyze the relationship between two numerical variables: minimum temperature (</a:t>
            </a:r>
            <a:r>
              <a:rPr lang="en-US" dirty="0" err="1"/>
              <a:t>MinTemp</a:t>
            </a:r>
            <a:r>
              <a:rPr lang="en-US" b="0" i="0" dirty="0">
                <a:solidFill>
                  <a:srgbClr val="ECECF1"/>
                </a:solidFill>
                <a:effectLst/>
                <a:latin typeface="Söhne"/>
              </a:rPr>
              <a:t>) and maximum temperature (</a:t>
            </a:r>
            <a:r>
              <a:rPr lang="en-US" dirty="0" err="1"/>
              <a:t>MaxTemp</a:t>
            </a:r>
            <a:r>
              <a:rPr lang="en-US" b="0" i="0" dirty="0">
                <a:solidFill>
                  <a:srgbClr val="ECECF1"/>
                </a:solidFill>
                <a:effectLst/>
                <a:latin typeface="Söhne"/>
              </a:rPr>
              <a:t>)</a:t>
            </a:r>
            <a:endParaRPr lang="en-US" dirty="0"/>
          </a:p>
        </p:txBody>
      </p:sp>
      <p:sp>
        <p:nvSpPr>
          <p:cNvPr id="4" name="Espace réservé du numéro de diapositive 3"/>
          <p:cNvSpPr>
            <a:spLocks noGrp="1"/>
          </p:cNvSpPr>
          <p:nvPr>
            <p:ph type="sldNum" sz="quarter" idx="5"/>
          </p:nvPr>
        </p:nvSpPr>
        <p:spPr/>
        <p:txBody>
          <a:bodyPr/>
          <a:lstStyle/>
          <a:p>
            <a:fld id="{A1F0EC7D-57EA-49C2-88D4-AF04B60B1694}" type="slidenum">
              <a:rPr lang="en-US" smtClean="0"/>
              <a:t>10</a:t>
            </a:fld>
            <a:endParaRPr lang="en-US"/>
          </a:p>
        </p:txBody>
      </p:sp>
    </p:spTree>
    <p:extLst>
      <p:ext uri="{BB962C8B-B14F-4D97-AF65-F5344CB8AC3E}">
        <p14:creationId xmlns:p14="http://schemas.microsoft.com/office/powerpoint/2010/main" val="38499404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br>
              <a:rPr lang="en-US" dirty="0"/>
            </a:br>
            <a:r>
              <a:rPr lang="en-US" b="0" i="0" dirty="0">
                <a:solidFill>
                  <a:srgbClr val="ECECF1"/>
                </a:solidFill>
                <a:effectLst/>
                <a:latin typeface="Söhne"/>
              </a:rPr>
              <a:t>The scatter plot suggests a positive linear correlation between minimum temperature (</a:t>
            </a:r>
            <a:r>
              <a:rPr lang="en-US" dirty="0" err="1"/>
              <a:t>MinTemp</a:t>
            </a:r>
            <a:r>
              <a:rPr lang="en-US" b="0" i="0" dirty="0">
                <a:solidFill>
                  <a:srgbClr val="ECECF1"/>
                </a:solidFill>
                <a:effectLst/>
                <a:latin typeface="Söhne"/>
              </a:rPr>
              <a:t>) and maximum temperature (</a:t>
            </a:r>
            <a:r>
              <a:rPr lang="en-US" dirty="0" err="1"/>
              <a:t>MaxTemp</a:t>
            </a:r>
            <a:r>
              <a:rPr lang="en-US" b="0" i="0" dirty="0">
                <a:solidFill>
                  <a:srgbClr val="ECECF1"/>
                </a:solidFill>
                <a:effectLst/>
                <a:latin typeface="Söhne"/>
              </a:rPr>
              <a:t>).</a:t>
            </a:r>
            <a:endParaRPr lang="en-US" dirty="0"/>
          </a:p>
        </p:txBody>
      </p:sp>
      <p:sp>
        <p:nvSpPr>
          <p:cNvPr id="4" name="Espace réservé du numéro de diapositive 3"/>
          <p:cNvSpPr>
            <a:spLocks noGrp="1"/>
          </p:cNvSpPr>
          <p:nvPr>
            <p:ph type="sldNum" sz="quarter" idx="5"/>
          </p:nvPr>
        </p:nvSpPr>
        <p:spPr/>
        <p:txBody>
          <a:bodyPr/>
          <a:lstStyle/>
          <a:p>
            <a:fld id="{A1F0EC7D-57EA-49C2-88D4-AF04B60B1694}" type="slidenum">
              <a:rPr lang="en-US" smtClean="0"/>
              <a:t>12</a:t>
            </a:fld>
            <a:endParaRPr lang="en-US"/>
          </a:p>
        </p:txBody>
      </p:sp>
    </p:spTree>
    <p:extLst>
      <p:ext uri="{BB962C8B-B14F-4D97-AF65-F5344CB8AC3E}">
        <p14:creationId xmlns:p14="http://schemas.microsoft.com/office/powerpoint/2010/main" val="5027034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b="0" i="0" dirty="0">
                <a:solidFill>
                  <a:srgbClr val="ECECF1"/>
                </a:solidFill>
                <a:effectLst/>
                <a:latin typeface="Söhne"/>
              </a:rPr>
              <a:t>This is a contextual information to understand the typical or central tendency of the target variable (maximum temperature) in the dataset.</a:t>
            </a:r>
            <a:endParaRPr lang="en-US" dirty="0"/>
          </a:p>
        </p:txBody>
      </p:sp>
      <p:sp>
        <p:nvSpPr>
          <p:cNvPr id="4" name="Espace réservé du numéro de diapositive 3"/>
          <p:cNvSpPr>
            <a:spLocks noGrp="1"/>
          </p:cNvSpPr>
          <p:nvPr>
            <p:ph type="sldNum" sz="quarter" idx="5"/>
          </p:nvPr>
        </p:nvSpPr>
        <p:spPr/>
        <p:txBody>
          <a:bodyPr/>
          <a:lstStyle/>
          <a:p>
            <a:fld id="{A1F0EC7D-57EA-49C2-88D4-AF04B60B1694}" type="slidenum">
              <a:rPr lang="en-US" smtClean="0"/>
              <a:t>13</a:t>
            </a:fld>
            <a:endParaRPr lang="en-US"/>
          </a:p>
        </p:txBody>
      </p:sp>
    </p:spTree>
    <p:extLst>
      <p:ext uri="{BB962C8B-B14F-4D97-AF65-F5344CB8AC3E}">
        <p14:creationId xmlns:p14="http://schemas.microsoft.com/office/powerpoint/2010/main" val="10321467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en-US" b="0" i="0" dirty="0">
                <a:solidFill>
                  <a:srgbClr val="ECECF1"/>
                </a:solidFill>
                <a:effectLst/>
                <a:latin typeface="Söhne"/>
              </a:rPr>
              <a:t>The </a:t>
            </a:r>
            <a:r>
              <a:rPr lang="en-US" b="0" i="0" dirty="0" err="1">
                <a:solidFill>
                  <a:srgbClr val="ECECF1"/>
                </a:solidFill>
                <a:effectLst/>
                <a:latin typeface="Söhne"/>
              </a:rPr>
              <a:t>DataFrame</a:t>
            </a:r>
            <a:r>
              <a:rPr lang="en-US" b="0" i="0" dirty="0">
                <a:solidFill>
                  <a:srgbClr val="ECECF1"/>
                </a:solidFill>
                <a:effectLst/>
                <a:latin typeface="Söhne"/>
              </a:rPr>
              <a:t> </a:t>
            </a:r>
            <a:r>
              <a:rPr lang="en-US" dirty="0" err="1"/>
              <a:t>df</a:t>
            </a:r>
            <a:r>
              <a:rPr lang="en-US" b="0" i="0" dirty="0">
                <a:solidFill>
                  <a:srgbClr val="ECECF1"/>
                </a:solidFill>
                <a:effectLst/>
                <a:latin typeface="Söhne"/>
              </a:rPr>
              <a:t> is created to compare and display the actual values (</a:t>
            </a:r>
            <a:r>
              <a:rPr lang="en-US" dirty="0"/>
              <a:t>Actual</a:t>
            </a:r>
            <a:r>
              <a:rPr lang="en-US" b="0" i="0" dirty="0">
                <a:solidFill>
                  <a:srgbClr val="ECECF1"/>
                </a:solidFill>
                <a:effectLst/>
                <a:latin typeface="Söhne"/>
              </a:rPr>
              <a:t>) and the predicted values (</a:t>
            </a:r>
            <a:r>
              <a:rPr lang="en-US" dirty="0"/>
              <a:t>Predicted</a:t>
            </a:r>
            <a:r>
              <a:rPr lang="en-US" b="0" i="0" dirty="0">
                <a:solidFill>
                  <a:srgbClr val="ECECF1"/>
                </a:solidFill>
                <a:effectLst/>
                <a:latin typeface="Söhne"/>
              </a:rPr>
              <a:t>) obtained from the linear regression model on the test set</a:t>
            </a:r>
            <a:endParaRPr lang="en-US" dirty="0"/>
          </a:p>
        </p:txBody>
      </p:sp>
      <p:sp>
        <p:nvSpPr>
          <p:cNvPr id="4" name="Espace réservé du numéro de diapositive 3"/>
          <p:cNvSpPr>
            <a:spLocks noGrp="1"/>
          </p:cNvSpPr>
          <p:nvPr>
            <p:ph type="sldNum" sz="quarter" idx="5"/>
          </p:nvPr>
        </p:nvSpPr>
        <p:spPr/>
        <p:txBody>
          <a:bodyPr/>
          <a:lstStyle/>
          <a:p>
            <a:fld id="{A1F0EC7D-57EA-49C2-88D4-AF04B60B1694}" type="slidenum">
              <a:rPr lang="en-US" smtClean="0"/>
              <a:t>16</a:t>
            </a:fld>
            <a:endParaRPr lang="en-US"/>
          </a:p>
        </p:txBody>
      </p:sp>
    </p:spTree>
    <p:extLst>
      <p:ext uri="{BB962C8B-B14F-4D97-AF65-F5344CB8AC3E}">
        <p14:creationId xmlns:p14="http://schemas.microsoft.com/office/powerpoint/2010/main" val="41996233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dirty="0" err="1"/>
              <a:t>We</a:t>
            </a:r>
            <a:r>
              <a:rPr lang="fr-FR" dirty="0"/>
              <a:t> </a:t>
            </a:r>
            <a:r>
              <a:rPr lang="fr-FR" dirty="0" err="1"/>
              <a:t>draw</a:t>
            </a:r>
            <a:r>
              <a:rPr lang="fr-FR" dirty="0"/>
              <a:t> the Straight line </a:t>
            </a:r>
            <a:r>
              <a:rPr lang="fr-FR" dirty="0" err="1"/>
              <a:t>that</a:t>
            </a:r>
            <a:r>
              <a:rPr lang="fr-FR" dirty="0"/>
              <a:t> best fit the data points</a:t>
            </a:r>
            <a:endParaRPr lang="en-US" dirty="0"/>
          </a:p>
        </p:txBody>
      </p:sp>
      <p:sp>
        <p:nvSpPr>
          <p:cNvPr id="4" name="Espace réservé du numéro de diapositive 3"/>
          <p:cNvSpPr>
            <a:spLocks noGrp="1"/>
          </p:cNvSpPr>
          <p:nvPr>
            <p:ph type="sldNum" sz="quarter" idx="5"/>
          </p:nvPr>
        </p:nvSpPr>
        <p:spPr/>
        <p:txBody>
          <a:bodyPr/>
          <a:lstStyle/>
          <a:p>
            <a:fld id="{A1F0EC7D-57EA-49C2-88D4-AF04B60B1694}" type="slidenum">
              <a:rPr lang="en-US" smtClean="0"/>
              <a:t>18</a:t>
            </a:fld>
            <a:endParaRPr lang="en-US"/>
          </a:p>
        </p:txBody>
      </p:sp>
    </p:spTree>
    <p:extLst>
      <p:ext uri="{BB962C8B-B14F-4D97-AF65-F5344CB8AC3E}">
        <p14:creationId xmlns:p14="http://schemas.microsoft.com/office/powerpoint/2010/main" val="309252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2702C2-5259-6570-C018-2B9D667D691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a:extLst>
              <a:ext uri="{FF2B5EF4-FFF2-40B4-BE49-F238E27FC236}">
                <a16:creationId xmlns:a16="http://schemas.microsoft.com/office/drawing/2014/main" id="{DE01CA34-5A5C-B271-C5C3-0A65E454590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Espace réservé de la date 3">
            <a:extLst>
              <a:ext uri="{FF2B5EF4-FFF2-40B4-BE49-F238E27FC236}">
                <a16:creationId xmlns:a16="http://schemas.microsoft.com/office/drawing/2014/main" id="{94181FF6-CFDB-1A89-424C-6EF11C685B1A}"/>
              </a:ext>
            </a:extLst>
          </p:cNvPr>
          <p:cNvSpPr>
            <a:spLocks noGrp="1"/>
          </p:cNvSpPr>
          <p:nvPr>
            <p:ph type="dt" sz="half" idx="10"/>
          </p:nvPr>
        </p:nvSpPr>
        <p:spPr/>
        <p:txBody>
          <a:bodyPr/>
          <a:lstStyle/>
          <a:p>
            <a:fld id="{A390D0BC-CA13-4525-803E-206BF71161DC}" type="datetimeFigureOut">
              <a:rPr lang="en-US" smtClean="0"/>
              <a:t>12/7/2023</a:t>
            </a:fld>
            <a:endParaRPr lang="en-US"/>
          </a:p>
        </p:txBody>
      </p:sp>
      <p:sp>
        <p:nvSpPr>
          <p:cNvPr id="5" name="Espace réservé du pied de page 4">
            <a:extLst>
              <a:ext uri="{FF2B5EF4-FFF2-40B4-BE49-F238E27FC236}">
                <a16:creationId xmlns:a16="http://schemas.microsoft.com/office/drawing/2014/main" id="{006FDDD4-3DB9-DBF2-BC9D-A17238DF6497}"/>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09535010-3EFD-F62A-10FB-27F049B5F0EA}"/>
              </a:ext>
            </a:extLst>
          </p:cNvPr>
          <p:cNvSpPr>
            <a:spLocks noGrp="1"/>
          </p:cNvSpPr>
          <p:nvPr>
            <p:ph type="sldNum" sz="quarter" idx="12"/>
          </p:nvPr>
        </p:nvSpPr>
        <p:spPr/>
        <p:txBody>
          <a:bodyPr/>
          <a:lstStyle/>
          <a:p>
            <a:fld id="{2B238580-A7E1-4C47-8E40-CDB25494FE0C}" type="slidenum">
              <a:rPr lang="en-US" smtClean="0"/>
              <a:t>‹N°›</a:t>
            </a:fld>
            <a:endParaRPr lang="en-US"/>
          </a:p>
        </p:txBody>
      </p:sp>
    </p:spTree>
    <p:extLst>
      <p:ext uri="{BB962C8B-B14F-4D97-AF65-F5344CB8AC3E}">
        <p14:creationId xmlns:p14="http://schemas.microsoft.com/office/powerpoint/2010/main" val="15641796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5C230FC-5733-CEC9-ED6E-F0C381D25F3C}"/>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EB547C3A-4C68-054B-66A2-66193B468B8B}"/>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1189BAE5-B48A-73DD-63FF-41BFEE9982EA}"/>
              </a:ext>
            </a:extLst>
          </p:cNvPr>
          <p:cNvSpPr>
            <a:spLocks noGrp="1"/>
          </p:cNvSpPr>
          <p:nvPr>
            <p:ph type="dt" sz="half" idx="10"/>
          </p:nvPr>
        </p:nvSpPr>
        <p:spPr/>
        <p:txBody>
          <a:bodyPr/>
          <a:lstStyle/>
          <a:p>
            <a:fld id="{A390D0BC-CA13-4525-803E-206BF71161DC}" type="datetimeFigureOut">
              <a:rPr lang="en-US" smtClean="0"/>
              <a:t>12/7/2023</a:t>
            </a:fld>
            <a:endParaRPr lang="en-US"/>
          </a:p>
        </p:txBody>
      </p:sp>
      <p:sp>
        <p:nvSpPr>
          <p:cNvPr id="5" name="Espace réservé du pied de page 4">
            <a:extLst>
              <a:ext uri="{FF2B5EF4-FFF2-40B4-BE49-F238E27FC236}">
                <a16:creationId xmlns:a16="http://schemas.microsoft.com/office/drawing/2014/main" id="{909EB179-49A6-211C-569F-7B9D4140B147}"/>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90E4C67B-E354-60B9-B514-258F81360DC4}"/>
              </a:ext>
            </a:extLst>
          </p:cNvPr>
          <p:cNvSpPr>
            <a:spLocks noGrp="1"/>
          </p:cNvSpPr>
          <p:nvPr>
            <p:ph type="sldNum" sz="quarter" idx="12"/>
          </p:nvPr>
        </p:nvSpPr>
        <p:spPr/>
        <p:txBody>
          <a:bodyPr/>
          <a:lstStyle/>
          <a:p>
            <a:fld id="{2B238580-A7E1-4C47-8E40-CDB25494FE0C}" type="slidenum">
              <a:rPr lang="en-US" smtClean="0"/>
              <a:t>‹N°›</a:t>
            </a:fld>
            <a:endParaRPr lang="en-US"/>
          </a:p>
        </p:txBody>
      </p:sp>
    </p:spTree>
    <p:extLst>
      <p:ext uri="{BB962C8B-B14F-4D97-AF65-F5344CB8AC3E}">
        <p14:creationId xmlns:p14="http://schemas.microsoft.com/office/powerpoint/2010/main" val="12234979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022DD4C-99E0-B318-DA1E-D2ACF052F96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Espace réservé du texte 2">
            <a:extLst>
              <a:ext uri="{FF2B5EF4-FFF2-40B4-BE49-F238E27FC236}">
                <a16:creationId xmlns:a16="http://schemas.microsoft.com/office/drawing/2014/main" id="{11E95940-F801-11A4-4150-735298438B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24294875-1999-0072-C3D2-8FDC892FDA45}"/>
              </a:ext>
            </a:extLst>
          </p:cNvPr>
          <p:cNvSpPr>
            <a:spLocks noGrp="1"/>
          </p:cNvSpPr>
          <p:nvPr>
            <p:ph type="dt" sz="half" idx="10"/>
          </p:nvPr>
        </p:nvSpPr>
        <p:spPr/>
        <p:txBody>
          <a:bodyPr/>
          <a:lstStyle/>
          <a:p>
            <a:fld id="{A390D0BC-CA13-4525-803E-206BF71161DC}" type="datetimeFigureOut">
              <a:rPr lang="en-US" smtClean="0"/>
              <a:t>12/7/2023</a:t>
            </a:fld>
            <a:endParaRPr lang="en-US"/>
          </a:p>
        </p:txBody>
      </p:sp>
      <p:sp>
        <p:nvSpPr>
          <p:cNvPr id="5" name="Espace réservé du pied de page 4">
            <a:extLst>
              <a:ext uri="{FF2B5EF4-FFF2-40B4-BE49-F238E27FC236}">
                <a16:creationId xmlns:a16="http://schemas.microsoft.com/office/drawing/2014/main" id="{6BF27FD2-6835-5F8D-1578-B5F9363CFD9D}"/>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41EE194B-609C-CD81-ACE9-60688D4AA103}"/>
              </a:ext>
            </a:extLst>
          </p:cNvPr>
          <p:cNvSpPr>
            <a:spLocks noGrp="1"/>
          </p:cNvSpPr>
          <p:nvPr>
            <p:ph type="sldNum" sz="quarter" idx="12"/>
          </p:nvPr>
        </p:nvSpPr>
        <p:spPr/>
        <p:txBody>
          <a:bodyPr/>
          <a:lstStyle/>
          <a:p>
            <a:fld id="{2B238580-A7E1-4C47-8E40-CDB25494FE0C}" type="slidenum">
              <a:rPr lang="en-US" smtClean="0"/>
              <a:t>‹N°›</a:t>
            </a:fld>
            <a:endParaRPr lang="en-US"/>
          </a:p>
        </p:txBody>
      </p:sp>
    </p:spTree>
    <p:extLst>
      <p:ext uri="{BB962C8B-B14F-4D97-AF65-F5344CB8AC3E}">
        <p14:creationId xmlns:p14="http://schemas.microsoft.com/office/powerpoint/2010/main" val="40412071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EDEFBA6-A83B-90DB-CA7D-4CB48E60DBF9}"/>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FAC81BAF-9D86-98F6-01C0-FF4AFD3A8F4C}"/>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a:extLst>
              <a:ext uri="{FF2B5EF4-FFF2-40B4-BE49-F238E27FC236}">
                <a16:creationId xmlns:a16="http://schemas.microsoft.com/office/drawing/2014/main" id="{3999ECE3-C742-1F46-8904-834309221C34}"/>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4">
            <a:extLst>
              <a:ext uri="{FF2B5EF4-FFF2-40B4-BE49-F238E27FC236}">
                <a16:creationId xmlns:a16="http://schemas.microsoft.com/office/drawing/2014/main" id="{5879218F-C7B0-CD72-DE0A-81A526CCCA68}"/>
              </a:ext>
            </a:extLst>
          </p:cNvPr>
          <p:cNvSpPr>
            <a:spLocks noGrp="1"/>
          </p:cNvSpPr>
          <p:nvPr>
            <p:ph type="dt" sz="half" idx="10"/>
          </p:nvPr>
        </p:nvSpPr>
        <p:spPr/>
        <p:txBody>
          <a:bodyPr/>
          <a:lstStyle/>
          <a:p>
            <a:fld id="{A390D0BC-CA13-4525-803E-206BF71161DC}" type="datetimeFigureOut">
              <a:rPr lang="en-US" smtClean="0"/>
              <a:t>12/7/2023</a:t>
            </a:fld>
            <a:endParaRPr lang="en-US"/>
          </a:p>
        </p:txBody>
      </p:sp>
      <p:sp>
        <p:nvSpPr>
          <p:cNvPr id="6" name="Espace réservé du pied de page 5">
            <a:extLst>
              <a:ext uri="{FF2B5EF4-FFF2-40B4-BE49-F238E27FC236}">
                <a16:creationId xmlns:a16="http://schemas.microsoft.com/office/drawing/2014/main" id="{C4B9C4BB-C7C9-F8AC-B216-21C748B9133D}"/>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1F05BA40-8D88-85E1-4BC4-48E3AFFB416F}"/>
              </a:ext>
            </a:extLst>
          </p:cNvPr>
          <p:cNvSpPr>
            <a:spLocks noGrp="1"/>
          </p:cNvSpPr>
          <p:nvPr>
            <p:ph type="sldNum" sz="quarter" idx="12"/>
          </p:nvPr>
        </p:nvSpPr>
        <p:spPr/>
        <p:txBody>
          <a:bodyPr/>
          <a:lstStyle/>
          <a:p>
            <a:fld id="{2B238580-A7E1-4C47-8E40-CDB25494FE0C}" type="slidenum">
              <a:rPr lang="en-US" smtClean="0"/>
              <a:t>‹N°›</a:t>
            </a:fld>
            <a:endParaRPr lang="en-US"/>
          </a:p>
        </p:txBody>
      </p:sp>
    </p:spTree>
    <p:extLst>
      <p:ext uri="{BB962C8B-B14F-4D97-AF65-F5344CB8AC3E}">
        <p14:creationId xmlns:p14="http://schemas.microsoft.com/office/powerpoint/2010/main" val="15318263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1028A92-36D2-06E7-6C79-C11527C3ED8F}"/>
              </a:ext>
            </a:extLst>
          </p:cNvPr>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055F81B4-C1B1-96E8-AC98-123252DBD4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B36A48B9-255C-9E81-5236-A62E16907A82}"/>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a:extLst>
              <a:ext uri="{FF2B5EF4-FFF2-40B4-BE49-F238E27FC236}">
                <a16:creationId xmlns:a16="http://schemas.microsoft.com/office/drawing/2014/main" id="{21AB9ADF-A463-1791-44BE-770CAC0FFAD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E664948-6191-4AFF-3272-3A6721F5F2B1}"/>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6">
            <a:extLst>
              <a:ext uri="{FF2B5EF4-FFF2-40B4-BE49-F238E27FC236}">
                <a16:creationId xmlns:a16="http://schemas.microsoft.com/office/drawing/2014/main" id="{62F8694F-5244-CD0B-B7D0-DBD4910F730C}"/>
              </a:ext>
            </a:extLst>
          </p:cNvPr>
          <p:cNvSpPr>
            <a:spLocks noGrp="1"/>
          </p:cNvSpPr>
          <p:nvPr>
            <p:ph type="dt" sz="half" idx="10"/>
          </p:nvPr>
        </p:nvSpPr>
        <p:spPr/>
        <p:txBody>
          <a:bodyPr/>
          <a:lstStyle/>
          <a:p>
            <a:fld id="{A390D0BC-CA13-4525-803E-206BF71161DC}" type="datetimeFigureOut">
              <a:rPr lang="en-US" smtClean="0"/>
              <a:t>12/7/2023</a:t>
            </a:fld>
            <a:endParaRPr lang="en-US"/>
          </a:p>
        </p:txBody>
      </p:sp>
      <p:sp>
        <p:nvSpPr>
          <p:cNvPr id="8" name="Espace réservé du pied de page 7">
            <a:extLst>
              <a:ext uri="{FF2B5EF4-FFF2-40B4-BE49-F238E27FC236}">
                <a16:creationId xmlns:a16="http://schemas.microsoft.com/office/drawing/2014/main" id="{06F12582-BE68-F5CC-90AF-39CC459BA015}"/>
              </a:ext>
            </a:extLst>
          </p:cNvPr>
          <p:cNvSpPr>
            <a:spLocks noGrp="1"/>
          </p:cNvSpPr>
          <p:nvPr>
            <p:ph type="ftr" sz="quarter" idx="11"/>
          </p:nvPr>
        </p:nvSpPr>
        <p:spPr/>
        <p:txBody>
          <a:bodyPr/>
          <a:lstStyle/>
          <a:p>
            <a:endParaRPr lang="en-US"/>
          </a:p>
        </p:txBody>
      </p:sp>
      <p:sp>
        <p:nvSpPr>
          <p:cNvPr id="9" name="Espace réservé du numéro de diapositive 8">
            <a:extLst>
              <a:ext uri="{FF2B5EF4-FFF2-40B4-BE49-F238E27FC236}">
                <a16:creationId xmlns:a16="http://schemas.microsoft.com/office/drawing/2014/main" id="{F56BD44E-8E47-5644-1A1B-0BA4F3B28D72}"/>
              </a:ext>
            </a:extLst>
          </p:cNvPr>
          <p:cNvSpPr>
            <a:spLocks noGrp="1"/>
          </p:cNvSpPr>
          <p:nvPr>
            <p:ph type="sldNum" sz="quarter" idx="12"/>
          </p:nvPr>
        </p:nvSpPr>
        <p:spPr/>
        <p:txBody>
          <a:bodyPr/>
          <a:lstStyle/>
          <a:p>
            <a:fld id="{2B238580-A7E1-4C47-8E40-CDB25494FE0C}" type="slidenum">
              <a:rPr lang="en-US" smtClean="0"/>
              <a:t>‹N°›</a:t>
            </a:fld>
            <a:endParaRPr lang="en-US"/>
          </a:p>
        </p:txBody>
      </p:sp>
    </p:spTree>
    <p:extLst>
      <p:ext uri="{BB962C8B-B14F-4D97-AF65-F5344CB8AC3E}">
        <p14:creationId xmlns:p14="http://schemas.microsoft.com/office/powerpoint/2010/main" val="4173086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B8BC888-543A-AB27-E09A-3A400D33C036}"/>
              </a:ext>
            </a:extLst>
          </p:cNvPr>
          <p:cNvSpPr>
            <a:spLocks noGrp="1"/>
          </p:cNvSpPr>
          <p:nvPr>
            <p:ph type="title"/>
          </p:nvPr>
        </p:nvSpPr>
        <p:spPr/>
        <p:txBody>
          <a:bodyPr/>
          <a:lstStyle/>
          <a:p>
            <a:r>
              <a:rPr lang="fr-FR"/>
              <a:t>Modifiez le style du titre</a:t>
            </a:r>
            <a:endParaRPr lang="en-US"/>
          </a:p>
        </p:txBody>
      </p:sp>
      <p:sp>
        <p:nvSpPr>
          <p:cNvPr id="3" name="Espace réservé de la date 2">
            <a:extLst>
              <a:ext uri="{FF2B5EF4-FFF2-40B4-BE49-F238E27FC236}">
                <a16:creationId xmlns:a16="http://schemas.microsoft.com/office/drawing/2014/main" id="{9278A6E9-6ECA-90CF-0879-92B09FBBF9C0}"/>
              </a:ext>
            </a:extLst>
          </p:cNvPr>
          <p:cNvSpPr>
            <a:spLocks noGrp="1"/>
          </p:cNvSpPr>
          <p:nvPr>
            <p:ph type="dt" sz="half" idx="10"/>
          </p:nvPr>
        </p:nvSpPr>
        <p:spPr/>
        <p:txBody>
          <a:bodyPr/>
          <a:lstStyle/>
          <a:p>
            <a:fld id="{A390D0BC-CA13-4525-803E-206BF71161DC}" type="datetimeFigureOut">
              <a:rPr lang="en-US" smtClean="0"/>
              <a:t>12/7/2023</a:t>
            </a:fld>
            <a:endParaRPr lang="en-US"/>
          </a:p>
        </p:txBody>
      </p:sp>
      <p:sp>
        <p:nvSpPr>
          <p:cNvPr id="4" name="Espace réservé du pied de page 3">
            <a:extLst>
              <a:ext uri="{FF2B5EF4-FFF2-40B4-BE49-F238E27FC236}">
                <a16:creationId xmlns:a16="http://schemas.microsoft.com/office/drawing/2014/main" id="{4357D278-30A9-32DB-2F65-8248704512EA}"/>
              </a:ext>
            </a:extLst>
          </p:cNvPr>
          <p:cNvSpPr>
            <a:spLocks noGrp="1"/>
          </p:cNvSpPr>
          <p:nvPr>
            <p:ph type="ftr" sz="quarter" idx="11"/>
          </p:nvPr>
        </p:nvSpPr>
        <p:spPr/>
        <p:txBody>
          <a:bodyPr/>
          <a:lstStyle/>
          <a:p>
            <a:endParaRPr lang="en-US"/>
          </a:p>
        </p:txBody>
      </p:sp>
      <p:sp>
        <p:nvSpPr>
          <p:cNvPr id="5" name="Espace réservé du numéro de diapositive 4">
            <a:extLst>
              <a:ext uri="{FF2B5EF4-FFF2-40B4-BE49-F238E27FC236}">
                <a16:creationId xmlns:a16="http://schemas.microsoft.com/office/drawing/2014/main" id="{67B7EC41-046C-51DC-2621-611EE1ED4BA2}"/>
              </a:ext>
            </a:extLst>
          </p:cNvPr>
          <p:cNvSpPr>
            <a:spLocks noGrp="1"/>
          </p:cNvSpPr>
          <p:nvPr>
            <p:ph type="sldNum" sz="quarter" idx="12"/>
          </p:nvPr>
        </p:nvSpPr>
        <p:spPr/>
        <p:txBody>
          <a:bodyPr/>
          <a:lstStyle/>
          <a:p>
            <a:fld id="{2B238580-A7E1-4C47-8E40-CDB25494FE0C}" type="slidenum">
              <a:rPr lang="en-US" smtClean="0"/>
              <a:t>‹N°›</a:t>
            </a:fld>
            <a:endParaRPr lang="en-US"/>
          </a:p>
        </p:txBody>
      </p:sp>
    </p:spTree>
    <p:extLst>
      <p:ext uri="{BB962C8B-B14F-4D97-AF65-F5344CB8AC3E}">
        <p14:creationId xmlns:p14="http://schemas.microsoft.com/office/powerpoint/2010/main" val="918064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196FC5A-D698-F504-8E5A-C339F5A60B3E}"/>
              </a:ext>
            </a:extLst>
          </p:cNvPr>
          <p:cNvSpPr>
            <a:spLocks noGrp="1"/>
          </p:cNvSpPr>
          <p:nvPr>
            <p:ph type="dt" sz="half" idx="10"/>
          </p:nvPr>
        </p:nvSpPr>
        <p:spPr/>
        <p:txBody>
          <a:bodyPr/>
          <a:lstStyle/>
          <a:p>
            <a:fld id="{A390D0BC-CA13-4525-803E-206BF71161DC}" type="datetimeFigureOut">
              <a:rPr lang="en-US" smtClean="0"/>
              <a:t>12/7/2023</a:t>
            </a:fld>
            <a:endParaRPr lang="en-US"/>
          </a:p>
        </p:txBody>
      </p:sp>
      <p:sp>
        <p:nvSpPr>
          <p:cNvPr id="3" name="Espace réservé du pied de page 2">
            <a:extLst>
              <a:ext uri="{FF2B5EF4-FFF2-40B4-BE49-F238E27FC236}">
                <a16:creationId xmlns:a16="http://schemas.microsoft.com/office/drawing/2014/main" id="{237504EA-2116-6220-2AF0-A345C76FD2AC}"/>
              </a:ext>
            </a:extLst>
          </p:cNvPr>
          <p:cNvSpPr>
            <a:spLocks noGrp="1"/>
          </p:cNvSpPr>
          <p:nvPr>
            <p:ph type="ftr" sz="quarter" idx="11"/>
          </p:nvPr>
        </p:nvSpPr>
        <p:spPr/>
        <p:txBody>
          <a:bodyPr/>
          <a:lstStyle/>
          <a:p>
            <a:endParaRPr lang="en-US"/>
          </a:p>
        </p:txBody>
      </p:sp>
      <p:sp>
        <p:nvSpPr>
          <p:cNvPr id="4" name="Espace réservé du numéro de diapositive 3">
            <a:extLst>
              <a:ext uri="{FF2B5EF4-FFF2-40B4-BE49-F238E27FC236}">
                <a16:creationId xmlns:a16="http://schemas.microsoft.com/office/drawing/2014/main" id="{3AF1DBDB-C571-1ABC-A815-DF3150A2E239}"/>
              </a:ext>
            </a:extLst>
          </p:cNvPr>
          <p:cNvSpPr>
            <a:spLocks noGrp="1"/>
          </p:cNvSpPr>
          <p:nvPr>
            <p:ph type="sldNum" sz="quarter" idx="12"/>
          </p:nvPr>
        </p:nvSpPr>
        <p:spPr/>
        <p:txBody>
          <a:bodyPr/>
          <a:lstStyle/>
          <a:p>
            <a:fld id="{2B238580-A7E1-4C47-8E40-CDB25494FE0C}" type="slidenum">
              <a:rPr lang="en-US" smtClean="0"/>
              <a:t>‹N°›</a:t>
            </a:fld>
            <a:endParaRPr lang="en-US"/>
          </a:p>
        </p:txBody>
      </p:sp>
    </p:spTree>
    <p:extLst>
      <p:ext uri="{BB962C8B-B14F-4D97-AF65-F5344CB8AC3E}">
        <p14:creationId xmlns:p14="http://schemas.microsoft.com/office/powerpoint/2010/main" val="78862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B9C593E-4E5B-1E2F-E6E6-61C960E68C6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du contenu 2">
            <a:extLst>
              <a:ext uri="{FF2B5EF4-FFF2-40B4-BE49-F238E27FC236}">
                <a16:creationId xmlns:a16="http://schemas.microsoft.com/office/drawing/2014/main" id="{7496F6D2-96A5-12CF-172E-865A1E8DC8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a:extLst>
              <a:ext uri="{FF2B5EF4-FFF2-40B4-BE49-F238E27FC236}">
                <a16:creationId xmlns:a16="http://schemas.microsoft.com/office/drawing/2014/main" id="{05AF0D14-C044-722F-8ACE-12DCF68EE3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CBE21E8-020E-CFAA-D225-6DFC4717F525}"/>
              </a:ext>
            </a:extLst>
          </p:cNvPr>
          <p:cNvSpPr>
            <a:spLocks noGrp="1"/>
          </p:cNvSpPr>
          <p:nvPr>
            <p:ph type="dt" sz="half" idx="10"/>
          </p:nvPr>
        </p:nvSpPr>
        <p:spPr/>
        <p:txBody>
          <a:bodyPr/>
          <a:lstStyle/>
          <a:p>
            <a:fld id="{A390D0BC-CA13-4525-803E-206BF71161DC}" type="datetimeFigureOut">
              <a:rPr lang="en-US" smtClean="0"/>
              <a:t>12/7/2023</a:t>
            </a:fld>
            <a:endParaRPr lang="en-US"/>
          </a:p>
        </p:txBody>
      </p:sp>
      <p:sp>
        <p:nvSpPr>
          <p:cNvPr id="6" name="Espace réservé du pied de page 5">
            <a:extLst>
              <a:ext uri="{FF2B5EF4-FFF2-40B4-BE49-F238E27FC236}">
                <a16:creationId xmlns:a16="http://schemas.microsoft.com/office/drawing/2014/main" id="{199E0D98-F0B6-957B-7E1E-88BC216FAE41}"/>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C2A23AFA-6CE5-D280-F4C5-4147CFA85CE5}"/>
              </a:ext>
            </a:extLst>
          </p:cNvPr>
          <p:cNvSpPr>
            <a:spLocks noGrp="1"/>
          </p:cNvSpPr>
          <p:nvPr>
            <p:ph type="sldNum" sz="quarter" idx="12"/>
          </p:nvPr>
        </p:nvSpPr>
        <p:spPr/>
        <p:txBody>
          <a:bodyPr/>
          <a:lstStyle/>
          <a:p>
            <a:fld id="{2B238580-A7E1-4C47-8E40-CDB25494FE0C}" type="slidenum">
              <a:rPr lang="en-US" smtClean="0"/>
              <a:t>‹N°›</a:t>
            </a:fld>
            <a:endParaRPr lang="en-US"/>
          </a:p>
        </p:txBody>
      </p:sp>
    </p:spTree>
    <p:extLst>
      <p:ext uri="{BB962C8B-B14F-4D97-AF65-F5344CB8AC3E}">
        <p14:creationId xmlns:p14="http://schemas.microsoft.com/office/powerpoint/2010/main" val="1870448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79D3EF-B9CC-6B66-4E1F-01B80DE6B57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pour une image  2">
            <a:extLst>
              <a:ext uri="{FF2B5EF4-FFF2-40B4-BE49-F238E27FC236}">
                <a16:creationId xmlns:a16="http://schemas.microsoft.com/office/drawing/2014/main" id="{6FDFD68A-4C69-EAF2-9115-2BAE90909C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ce réservé du texte 3">
            <a:extLst>
              <a:ext uri="{FF2B5EF4-FFF2-40B4-BE49-F238E27FC236}">
                <a16:creationId xmlns:a16="http://schemas.microsoft.com/office/drawing/2014/main" id="{DE8525C7-C0A8-6BCD-1080-8C76C15457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C0BD17F-1AF4-D114-0617-2B90334DF9A2}"/>
              </a:ext>
            </a:extLst>
          </p:cNvPr>
          <p:cNvSpPr>
            <a:spLocks noGrp="1"/>
          </p:cNvSpPr>
          <p:nvPr>
            <p:ph type="dt" sz="half" idx="10"/>
          </p:nvPr>
        </p:nvSpPr>
        <p:spPr/>
        <p:txBody>
          <a:bodyPr/>
          <a:lstStyle/>
          <a:p>
            <a:fld id="{A390D0BC-CA13-4525-803E-206BF71161DC}" type="datetimeFigureOut">
              <a:rPr lang="en-US" smtClean="0"/>
              <a:t>12/7/2023</a:t>
            </a:fld>
            <a:endParaRPr lang="en-US"/>
          </a:p>
        </p:txBody>
      </p:sp>
      <p:sp>
        <p:nvSpPr>
          <p:cNvPr id="6" name="Espace réservé du pied de page 5">
            <a:extLst>
              <a:ext uri="{FF2B5EF4-FFF2-40B4-BE49-F238E27FC236}">
                <a16:creationId xmlns:a16="http://schemas.microsoft.com/office/drawing/2014/main" id="{248577E8-7EC8-C2C9-4A79-8D91A55183D0}"/>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9BC41518-3AC4-AA04-6867-7E8492E0FDD8}"/>
              </a:ext>
            </a:extLst>
          </p:cNvPr>
          <p:cNvSpPr>
            <a:spLocks noGrp="1"/>
          </p:cNvSpPr>
          <p:nvPr>
            <p:ph type="sldNum" sz="quarter" idx="12"/>
          </p:nvPr>
        </p:nvSpPr>
        <p:spPr/>
        <p:txBody>
          <a:bodyPr/>
          <a:lstStyle/>
          <a:p>
            <a:fld id="{2B238580-A7E1-4C47-8E40-CDB25494FE0C}" type="slidenum">
              <a:rPr lang="en-US" smtClean="0"/>
              <a:t>‹N°›</a:t>
            </a:fld>
            <a:endParaRPr lang="en-US"/>
          </a:p>
        </p:txBody>
      </p:sp>
    </p:spTree>
    <p:extLst>
      <p:ext uri="{BB962C8B-B14F-4D97-AF65-F5344CB8AC3E}">
        <p14:creationId xmlns:p14="http://schemas.microsoft.com/office/powerpoint/2010/main" val="35555728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8461008-C466-C2EB-5982-653D300AFDFE}"/>
              </a:ext>
            </a:extLst>
          </p:cNvPr>
          <p:cNvSpPr>
            <a:spLocks noGrp="1"/>
          </p:cNvSpPr>
          <p:nvPr>
            <p:ph type="title"/>
          </p:nvPr>
        </p:nvSpPr>
        <p:spPr/>
        <p:txBody>
          <a:bodyPr/>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91948E5B-4190-4F17-C4C7-10EA635A1FC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1F658BCE-8FC4-E36A-6BBB-81FB73591019}"/>
              </a:ext>
            </a:extLst>
          </p:cNvPr>
          <p:cNvSpPr>
            <a:spLocks noGrp="1"/>
          </p:cNvSpPr>
          <p:nvPr>
            <p:ph type="dt" sz="half" idx="10"/>
          </p:nvPr>
        </p:nvSpPr>
        <p:spPr/>
        <p:txBody>
          <a:bodyPr/>
          <a:lstStyle/>
          <a:p>
            <a:fld id="{A390D0BC-CA13-4525-803E-206BF71161DC}" type="datetimeFigureOut">
              <a:rPr lang="en-US" smtClean="0"/>
              <a:t>12/7/2023</a:t>
            </a:fld>
            <a:endParaRPr lang="en-US"/>
          </a:p>
        </p:txBody>
      </p:sp>
      <p:sp>
        <p:nvSpPr>
          <p:cNvPr id="5" name="Espace réservé du pied de page 4">
            <a:extLst>
              <a:ext uri="{FF2B5EF4-FFF2-40B4-BE49-F238E27FC236}">
                <a16:creationId xmlns:a16="http://schemas.microsoft.com/office/drawing/2014/main" id="{AA5F1B8D-23C7-3B6D-CDA9-3E63B16AA953}"/>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8EC508F7-B9C8-A197-9D50-EBBF6B90F580}"/>
              </a:ext>
            </a:extLst>
          </p:cNvPr>
          <p:cNvSpPr>
            <a:spLocks noGrp="1"/>
          </p:cNvSpPr>
          <p:nvPr>
            <p:ph type="sldNum" sz="quarter" idx="12"/>
          </p:nvPr>
        </p:nvSpPr>
        <p:spPr/>
        <p:txBody>
          <a:bodyPr/>
          <a:lstStyle/>
          <a:p>
            <a:fld id="{2B238580-A7E1-4C47-8E40-CDB25494FE0C}" type="slidenum">
              <a:rPr lang="en-US" smtClean="0"/>
              <a:t>‹N°›</a:t>
            </a:fld>
            <a:endParaRPr lang="en-US"/>
          </a:p>
        </p:txBody>
      </p:sp>
    </p:spTree>
    <p:extLst>
      <p:ext uri="{BB962C8B-B14F-4D97-AF65-F5344CB8AC3E}">
        <p14:creationId xmlns:p14="http://schemas.microsoft.com/office/powerpoint/2010/main" val="34407986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3265A3F7-701F-F525-84F2-26664599B6AB}"/>
              </a:ext>
            </a:extLst>
          </p:cNvPr>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11927512-698B-BE63-07FF-2129EC6D37F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19C2233B-40E7-983F-E175-44038FA83F6E}"/>
              </a:ext>
            </a:extLst>
          </p:cNvPr>
          <p:cNvSpPr>
            <a:spLocks noGrp="1"/>
          </p:cNvSpPr>
          <p:nvPr>
            <p:ph type="dt" sz="half" idx="10"/>
          </p:nvPr>
        </p:nvSpPr>
        <p:spPr/>
        <p:txBody>
          <a:bodyPr/>
          <a:lstStyle/>
          <a:p>
            <a:fld id="{A390D0BC-CA13-4525-803E-206BF71161DC}" type="datetimeFigureOut">
              <a:rPr lang="en-US" smtClean="0"/>
              <a:t>12/7/2023</a:t>
            </a:fld>
            <a:endParaRPr lang="en-US"/>
          </a:p>
        </p:txBody>
      </p:sp>
      <p:sp>
        <p:nvSpPr>
          <p:cNvPr id="5" name="Espace réservé du pied de page 4">
            <a:extLst>
              <a:ext uri="{FF2B5EF4-FFF2-40B4-BE49-F238E27FC236}">
                <a16:creationId xmlns:a16="http://schemas.microsoft.com/office/drawing/2014/main" id="{EC978CAA-07E5-230E-C53E-A4171747FA23}"/>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F868E7BE-64C3-2E35-896E-73E9A1CB7065}"/>
              </a:ext>
            </a:extLst>
          </p:cNvPr>
          <p:cNvSpPr>
            <a:spLocks noGrp="1"/>
          </p:cNvSpPr>
          <p:nvPr>
            <p:ph type="sldNum" sz="quarter" idx="12"/>
          </p:nvPr>
        </p:nvSpPr>
        <p:spPr/>
        <p:txBody>
          <a:bodyPr/>
          <a:lstStyle/>
          <a:p>
            <a:fld id="{2B238580-A7E1-4C47-8E40-CDB25494FE0C}" type="slidenum">
              <a:rPr lang="en-US" smtClean="0"/>
              <a:t>‹N°›</a:t>
            </a:fld>
            <a:endParaRPr lang="en-US"/>
          </a:p>
        </p:txBody>
      </p:sp>
    </p:spTree>
    <p:extLst>
      <p:ext uri="{BB962C8B-B14F-4D97-AF65-F5344CB8AC3E}">
        <p14:creationId xmlns:p14="http://schemas.microsoft.com/office/powerpoint/2010/main" val="29038857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2065E248-38AE-B0F2-CEE8-BFD2B14377F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BF3E34F9-D2E9-3CAD-7F19-CCF92010F08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12218924-866F-591E-B4EA-FEA5087DF5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90D0BC-CA13-4525-803E-206BF71161DC}" type="datetimeFigureOut">
              <a:rPr lang="en-US" smtClean="0"/>
              <a:t>12/7/2023</a:t>
            </a:fld>
            <a:endParaRPr lang="en-US"/>
          </a:p>
        </p:txBody>
      </p:sp>
      <p:sp>
        <p:nvSpPr>
          <p:cNvPr id="5" name="Espace réservé du pied de page 4">
            <a:extLst>
              <a:ext uri="{FF2B5EF4-FFF2-40B4-BE49-F238E27FC236}">
                <a16:creationId xmlns:a16="http://schemas.microsoft.com/office/drawing/2014/main" id="{1727DBE7-3F5E-F9A5-0700-2F4AF5A2190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Espace réservé du numéro de diapositive 5">
            <a:extLst>
              <a:ext uri="{FF2B5EF4-FFF2-40B4-BE49-F238E27FC236}">
                <a16:creationId xmlns:a16="http://schemas.microsoft.com/office/drawing/2014/main" id="{24D67405-2C7E-40E9-4210-90D8479E6A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238580-A7E1-4C47-8E40-CDB25494FE0C}" type="slidenum">
              <a:rPr lang="en-US" smtClean="0"/>
              <a:t>‹N°›</a:t>
            </a:fld>
            <a:endParaRPr lang="en-US"/>
          </a:p>
        </p:txBody>
      </p:sp>
    </p:spTree>
    <p:extLst>
      <p:ext uri="{BB962C8B-B14F-4D97-AF65-F5344CB8AC3E}">
        <p14:creationId xmlns:p14="http://schemas.microsoft.com/office/powerpoint/2010/main" val="21185257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gif"/></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image" Target="../media/image25.gif"/><Relationship Id="rId1" Type="http://schemas.openxmlformats.org/officeDocument/2006/relationships/slideLayout" Target="../slideLayouts/slideLayout2.xml"/><Relationship Id="rId4" Type="http://schemas.openxmlformats.org/officeDocument/2006/relationships/image" Target="../media/image27.gif"/></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9.gi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C681C32C-7AFC-4BB3-9088-65CBDFC5D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799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262179AA-46D7-847E-C4C4-F5AB4683FF66}"/>
              </a:ext>
            </a:extLst>
          </p:cNvPr>
          <p:cNvSpPr>
            <a:spLocks noGrp="1"/>
          </p:cNvSpPr>
          <p:nvPr>
            <p:ph type="title"/>
          </p:nvPr>
        </p:nvSpPr>
        <p:spPr>
          <a:xfrm>
            <a:off x="917275" y="4583953"/>
            <a:ext cx="6397925" cy="1465973"/>
          </a:xfrm>
        </p:spPr>
        <p:txBody>
          <a:bodyPr anchor="t">
            <a:normAutofit/>
          </a:bodyPr>
          <a:lstStyle/>
          <a:p>
            <a:r>
              <a:rPr lang="fr-FR" sz="4800" dirty="0" err="1">
                <a:solidFill>
                  <a:srgbClr val="002060"/>
                </a:solidFill>
                <a:latin typeface="Cooper Black" panose="0208090404030B020404" pitchFamily="18" charset="0"/>
                <a:cs typeface="Dreaming Outloud Script Pro" panose="020F0502020204030204" pitchFamily="66" charset="0"/>
              </a:rPr>
              <a:t>Linear</a:t>
            </a:r>
            <a:r>
              <a:rPr lang="fr-FR" sz="4800" dirty="0">
                <a:solidFill>
                  <a:srgbClr val="002060"/>
                </a:solidFill>
                <a:latin typeface="Cooper Black" panose="0208090404030B020404" pitchFamily="18" charset="0"/>
                <a:cs typeface="Dreaming Outloud Script Pro" panose="020F0502020204030204" pitchFamily="66" charset="0"/>
              </a:rPr>
              <a:t> </a:t>
            </a:r>
            <a:r>
              <a:rPr lang="fr-FR" sz="4800" dirty="0" err="1">
                <a:solidFill>
                  <a:srgbClr val="002060"/>
                </a:solidFill>
                <a:latin typeface="Cooper Black" panose="0208090404030B020404" pitchFamily="18" charset="0"/>
                <a:cs typeface="Dreaming Outloud Script Pro" panose="020F0502020204030204" pitchFamily="66" charset="0"/>
              </a:rPr>
              <a:t>regression</a:t>
            </a:r>
            <a:endParaRPr lang="en-US" sz="4800" dirty="0">
              <a:solidFill>
                <a:srgbClr val="002060"/>
              </a:solidFill>
              <a:latin typeface="Cooper Black" panose="0208090404030B020404" pitchFamily="18" charset="0"/>
              <a:cs typeface="Dreaming Outloud Script Pro" panose="020F0502020204030204" pitchFamily="66" charset="0"/>
            </a:endParaRPr>
          </a:p>
        </p:txBody>
      </p:sp>
      <p:pic>
        <p:nvPicPr>
          <p:cNvPr id="2050" name="Picture 2" descr="What is Linear Regression?- Spiceworks - Spiceworks">
            <a:extLst>
              <a:ext uri="{FF2B5EF4-FFF2-40B4-BE49-F238E27FC236}">
                <a16:creationId xmlns:a16="http://schemas.microsoft.com/office/drawing/2014/main" id="{B68657D2-3282-605F-5CD7-057ECA618F1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1103" b="9265"/>
          <a:stretch/>
        </p:blipFill>
        <p:spPr bwMode="auto">
          <a:xfrm>
            <a:off x="20" y="432"/>
            <a:ext cx="12191980" cy="4244759"/>
          </a:xfrm>
          <a:prstGeom prst="rect">
            <a:avLst/>
          </a:prstGeom>
          <a:noFill/>
          <a:extLst>
            <a:ext uri="{909E8E84-426E-40DD-AFC4-6F175D3DCCD1}">
              <a14:hiddenFill xmlns:a14="http://schemas.microsoft.com/office/drawing/2010/main">
                <a:solidFill>
                  <a:srgbClr val="FFFFFF"/>
                </a:solidFill>
              </a14:hiddenFill>
            </a:ext>
          </a:extLst>
        </p:spPr>
      </p:pic>
      <p:sp>
        <p:nvSpPr>
          <p:cNvPr id="3" name="Espace réservé du contenu 2">
            <a:extLst>
              <a:ext uri="{FF2B5EF4-FFF2-40B4-BE49-F238E27FC236}">
                <a16:creationId xmlns:a16="http://schemas.microsoft.com/office/drawing/2014/main" id="{7042981D-10AC-BEFC-FFDA-2D0500D2A986}"/>
              </a:ext>
            </a:extLst>
          </p:cNvPr>
          <p:cNvSpPr>
            <a:spLocks noGrp="1"/>
          </p:cNvSpPr>
          <p:nvPr>
            <p:ph idx="1"/>
          </p:nvPr>
        </p:nvSpPr>
        <p:spPr>
          <a:xfrm>
            <a:off x="8324850" y="4953000"/>
            <a:ext cx="3409950" cy="1096926"/>
          </a:xfrm>
        </p:spPr>
        <p:txBody>
          <a:bodyPr>
            <a:normAutofit/>
          </a:bodyPr>
          <a:lstStyle/>
          <a:p>
            <a:pPr marL="0" indent="0">
              <a:buNone/>
            </a:pPr>
            <a:r>
              <a:rPr lang="fr-FR" sz="1600" dirty="0">
                <a:latin typeface="Cooper Black" panose="0208090404030B020404" pitchFamily="18" charset="0"/>
              </a:rPr>
              <a:t>Hiba Achiche</a:t>
            </a:r>
          </a:p>
          <a:p>
            <a:pPr marL="0" indent="0">
              <a:buNone/>
            </a:pPr>
            <a:r>
              <a:rPr lang="fr-FR" sz="1600" dirty="0" err="1">
                <a:latin typeface="Cooper Black" panose="0208090404030B020404" pitchFamily="18" charset="0"/>
              </a:rPr>
              <a:t>Oussema</a:t>
            </a:r>
            <a:r>
              <a:rPr lang="fr-FR" sz="1600" dirty="0">
                <a:latin typeface="Cooper Black" panose="0208090404030B020404" pitchFamily="18" charset="0"/>
              </a:rPr>
              <a:t> Mabrouk</a:t>
            </a:r>
          </a:p>
          <a:p>
            <a:pPr marL="0" indent="0">
              <a:buNone/>
            </a:pPr>
            <a:r>
              <a:rPr lang="fr-FR" sz="1600" dirty="0">
                <a:latin typeface="Cooper Black" panose="0208090404030B020404" pitchFamily="18" charset="0"/>
              </a:rPr>
              <a:t>3LT3</a:t>
            </a:r>
            <a:endParaRPr lang="en-US" sz="1600" dirty="0">
              <a:latin typeface="Cooper Black" panose="0208090404030B020404" pitchFamily="18" charset="0"/>
            </a:endParaRPr>
          </a:p>
        </p:txBody>
      </p:sp>
      <p:sp>
        <p:nvSpPr>
          <p:cNvPr id="2057" name="Rectangle 2056">
            <a:extLst>
              <a:ext uri="{FF2B5EF4-FFF2-40B4-BE49-F238E27FC236}">
                <a16:creationId xmlns:a16="http://schemas.microsoft.com/office/drawing/2014/main" id="{199C0ED0-69DE-4C31-A5CF-E2A46FD302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0" y="6400799"/>
            <a:ext cx="12192000" cy="456773"/>
          </a:xfrm>
          <a:prstGeom prst="rect">
            <a:avLst/>
          </a:prstGeom>
          <a:gradFill>
            <a:gsLst>
              <a:gs pos="0">
                <a:schemeClr val="accent1"/>
              </a:gs>
              <a:gs pos="78000">
                <a:srgbClr val="000000"/>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59" name="Rectangle 2058">
            <a:extLst>
              <a:ext uri="{FF2B5EF4-FFF2-40B4-BE49-F238E27FC236}">
                <a16:creationId xmlns:a16="http://schemas.microsoft.com/office/drawing/2014/main" id="{8D42B8BD-40AF-488E-8A79-D7256C9172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038600" y="6400799"/>
            <a:ext cx="8153398" cy="456772"/>
          </a:xfrm>
          <a:prstGeom prst="rect">
            <a:avLst/>
          </a:prstGeom>
          <a:gradFill>
            <a:gsLst>
              <a:gs pos="0">
                <a:srgbClr val="000000">
                  <a:alpha val="63000"/>
                </a:srgbClr>
              </a:gs>
              <a:gs pos="100000">
                <a:schemeClr val="accent1">
                  <a:lumMod val="7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57035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re 1">
            <a:extLst>
              <a:ext uri="{FF2B5EF4-FFF2-40B4-BE49-F238E27FC236}">
                <a16:creationId xmlns:a16="http://schemas.microsoft.com/office/drawing/2014/main" id="{0BF87027-1820-6F7D-DC9B-B997E18E6B56}"/>
              </a:ext>
            </a:extLst>
          </p:cNvPr>
          <p:cNvSpPr>
            <a:spLocks noGrp="1"/>
          </p:cNvSpPr>
          <p:nvPr>
            <p:ph type="title"/>
          </p:nvPr>
        </p:nvSpPr>
        <p:spPr>
          <a:xfrm>
            <a:off x="549633" y="229395"/>
            <a:ext cx="11018520" cy="1461293"/>
          </a:xfrm>
        </p:spPr>
        <p:txBody>
          <a:bodyPr anchor="b">
            <a:normAutofit/>
          </a:bodyPr>
          <a:lstStyle/>
          <a:p>
            <a:r>
              <a:rPr lang="fr-FR" sz="5400" dirty="0"/>
              <a:t>  </a:t>
            </a:r>
            <a:r>
              <a:rPr lang="fr-FR" sz="5400" dirty="0" err="1">
                <a:solidFill>
                  <a:srgbClr val="3333FF"/>
                </a:solidFill>
                <a:latin typeface="Cooper Black" panose="0208090404030B020404" pitchFamily="18" charset="0"/>
              </a:rPr>
              <a:t>Definition</a:t>
            </a:r>
            <a:r>
              <a:rPr lang="fr-FR" sz="5400" dirty="0">
                <a:solidFill>
                  <a:srgbClr val="3333FF"/>
                </a:solidFill>
                <a:latin typeface="Cooper Black" panose="0208090404030B020404" pitchFamily="18" charset="0"/>
              </a:rPr>
              <a:t>:</a:t>
            </a:r>
            <a:endParaRPr lang="en-US" sz="5400" dirty="0">
              <a:solidFill>
                <a:srgbClr val="3333FF"/>
              </a:solidFill>
              <a:latin typeface="Cooper Black" panose="0208090404030B020404" pitchFamily="18" charset="0"/>
            </a:endParaRPr>
          </a:p>
        </p:txBody>
      </p:sp>
      <p:sp>
        <p:nvSpPr>
          <p:cNvPr id="12"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1D34D765-E78C-7EC4-730A-F10685ECF127}"/>
              </a:ext>
            </a:extLst>
          </p:cNvPr>
          <p:cNvSpPr>
            <a:spLocks noGrp="1"/>
          </p:cNvSpPr>
          <p:nvPr>
            <p:ph idx="1"/>
          </p:nvPr>
        </p:nvSpPr>
        <p:spPr>
          <a:xfrm>
            <a:off x="635246" y="2394045"/>
            <a:ext cx="6713552" cy="4119172"/>
          </a:xfrm>
        </p:spPr>
        <p:txBody>
          <a:bodyPr anchor="t">
            <a:normAutofit/>
          </a:bodyPr>
          <a:lstStyle/>
          <a:p>
            <a:pPr marL="0" indent="0">
              <a:buNone/>
            </a:pPr>
            <a:endParaRPr lang="en-US" sz="2000" b="0" i="0" dirty="0">
              <a:effectLst/>
              <a:latin typeface="open sans" panose="020B0606030504020204" pitchFamily="34" charset="0"/>
            </a:endParaRPr>
          </a:p>
          <a:p>
            <a:r>
              <a:rPr lang="en-US" sz="2000" b="0" i="0" dirty="0">
                <a:effectLst/>
                <a:latin typeface="open sans" panose="020B0606030504020204" pitchFamily="34" charset="0"/>
              </a:rPr>
              <a:t>Linear regression performs the task to predict a dependent variable value (y) based on a given independent variable (x). So, this regression technique finds out a linear relationship between x (input) and y(output). </a:t>
            </a:r>
            <a:r>
              <a:rPr lang="en-US" sz="2000" dirty="0">
                <a:latin typeface="open sans" panose="020B0606030504020204" pitchFamily="34" charset="0"/>
              </a:rPr>
              <a:t>L</a:t>
            </a:r>
            <a:r>
              <a:rPr lang="en-US" sz="2000" b="0" i="0" dirty="0">
                <a:effectLst/>
                <a:latin typeface="open sans" panose="020B0606030504020204" pitchFamily="34" charset="0"/>
              </a:rPr>
              <a:t>inear regression gives us </a:t>
            </a:r>
            <a:r>
              <a:rPr lang="en-US" sz="2000" b="0" i="0" u="sng" dirty="0">
                <a:effectLst/>
                <a:latin typeface="open sans" panose="020B0606030504020204" pitchFamily="34" charset="0"/>
              </a:rPr>
              <a:t>a straight line that best fits the data points.</a:t>
            </a:r>
            <a:endParaRPr lang="en-US" sz="2000" u="sng" dirty="0"/>
          </a:p>
        </p:txBody>
      </p:sp>
      <p:pic>
        <p:nvPicPr>
          <p:cNvPr id="5" name="Image 4">
            <a:extLst>
              <a:ext uri="{FF2B5EF4-FFF2-40B4-BE49-F238E27FC236}">
                <a16:creationId xmlns:a16="http://schemas.microsoft.com/office/drawing/2014/main" id="{2501F6B7-BDB6-A416-335D-D6B8A45D0FC8}"/>
              </a:ext>
            </a:extLst>
          </p:cNvPr>
          <p:cNvPicPr>
            <a:picLocks noChangeAspect="1"/>
          </p:cNvPicPr>
          <p:nvPr/>
        </p:nvPicPr>
        <p:blipFill rotWithShape="1">
          <a:blip r:embed="rId3"/>
          <a:srcRect l="14129" r="12035" b="2"/>
          <a:stretch/>
        </p:blipFill>
        <p:spPr>
          <a:xfrm>
            <a:off x="7675658" y="2093976"/>
            <a:ext cx="3941064" cy="4096512"/>
          </a:xfrm>
          <a:prstGeom prst="rect">
            <a:avLst/>
          </a:prstGeom>
        </p:spPr>
      </p:pic>
      <p:sp>
        <p:nvSpPr>
          <p:cNvPr id="6" name="Rectangle 5">
            <a:extLst>
              <a:ext uri="{FF2B5EF4-FFF2-40B4-BE49-F238E27FC236}">
                <a16:creationId xmlns:a16="http://schemas.microsoft.com/office/drawing/2014/main" id="{FD0C2B9B-A95F-3F77-B1EC-8CF80139ABCE}"/>
              </a:ext>
            </a:extLst>
          </p:cNvPr>
          <p:cNvSpPr/>
          <p:nvPr/>
        </p:nvSpPr>
        <p:spPr>
          <a:xfrm>
            <a:off x="549633" y="1613647"/>
            <a:ext cx="11247920" cy="1355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886245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2610C3-5114-50A6-7189-E653B4F4E769}"/>
              </a:ext>
            </a:extLst>
          </p:cNvPr>
          <p:cNvSpPr>
            <a:spLocks noGrp="1"/>
          </p:cNvSpPr>
          <p:nvPr>
            <p:ph type="title"/>
          </p:nvPr>
        </p:nvSpPr>
        <p:spPr/>
        <p:txBody>
          <a:bodyPr/>
          <a:lstStyle/>
          <a:p>
            <a:r>
              <a:rPr lang="en-US" b="1" i="0" dirty="0">
                <a:solidFill>
                  <a:srgbClr val="3333FF"/>
                </a:solidFill>
                <a:effectLst/>
                <a:latin typeface="Cooper Black" panose="0208090404030B020404" pitchFamily="18" charset="0"/>
              </a:rPr>
              <a:t>Assumptions of Linear Regression</a:t>
            </a:r>
            <a:br>
              <a:rPr lang="en-US" b="0" i="0" dirty="0">
                <a:solidFill>
                  <a:srgbClr val="3333FF"/>
                </a:solidFill>
                <a:effectLst/>
                <a:latin typeface="Cooper Black" panose="0208090404030B020404" pitchFamily="18" charset="0"/>
              </a:rPr>
            </a:br>
            <a:endParaRPr lang="en-US" dirty="0">
              <a:solidFill>
                <a:srgbClr val="3333FF"/>
              </a:solidFill>
              <a:latin typeface="Cooper Black" panose="0208090404030B020404" pitchFamily="18" charset="0"/>
            </a:endParaRPr>
          </a:p>
        </p:txBody>
      </p:sp>
      <p:sp>
        <p:nvSpPr>
          <p:cNvPr id="4" name="ZoneTexte 3">
            <a:extLst>
              <a:ext uri="{FF2B5EF4-FFF2-40B4-BE49-F238E27FC236}">
                <a16:creationId xmlns:a16="http://schemas.microsoft.com/office/drawing/2014/main" id="{EE0E3975-BADB-8A80-22CB-4FC5D074583D}"/>
              </a:ext>
            </a:extLst>
          </p:cNvPr>
          <p:cNvSpPr txBox="1"/>
          <p:nvPr/>
        </p:nvSpPr>
        <p:spPr>
          <a:xfrm>
            <a:off x="687754" y="1592643"/>
            <a:ext cx="2665046" cy="369332"/>
          </a:xfrm>
          <a:prstGeom prst="rect">
            <a:avLst/>
          </a:prstGeom>
          <a:noFill/>
        </p:spPr>
        <p:txBody>
          <a:bodyPr wrap="square">
            <a:spAutoFit/>
          </a:bodyPr>
          <a:lstStyle/>
          <a:p>
            <a:r>
              <a:rPr lang="en-US" b="1" i="0" dirty="0">
                <a:solidFill>
                  <a:srgbClr val="222222"/>
                </a:solidFill>
                <a:effectLst/>
                <a:latin typeface="Lato" panose="020F0502020204030203" pitchFamily="34" charset="0"/>
              </a:rPr>
              <a:t> 1. </a:t>
            </a:r>
            <a:r>
              <a:rPr lang="en-US" b="1" i="0" u="sng" dirty="0">
                <a:solidFill>
                  <a:srgbClr val="222222"/>
                </a:solidFill>
                <a:effectLst/>
                <a:latin typeface="Lato" panose="020F0502020204030203" pitchFamily="34" charset="0"/>
              </a:rPr>
              <a:t>Linearity of residuals</a:t>
            </a:r>
            <a:r>
              <a:rPr lang="en-US" b="0" i="0" u="sng" dirty="0">
                <a:solidFill>
                  <a:srgbClr val="222222"/>
                </a:solidFill>
                <a:effectLst/>
                <a:latin typeface="Lato" panose="020F0502020204030203" pitchFamily="34" charset="0"/>
              </a:rPr>
              <a:t>:</a:t>
            </a:r>
            <a:endParaRPr lang="en-US" u="sng" dirty="0"/>
          </a:p>
        </p:txBody>
      </p:sp>
      <p:sp>
        <p:nvSpPr>
          <p:cNvPr id="7" name="ZoneTexte 6">
            <a:extLst>
              <a:ext uri="{FF2B5EF4-FFF2-40B4-BE49-F238E27FC236}">
                <a16:creationId xmlns:a16="http://schemas.microsoft.com/office/drawing/2014/main" id="{E2CF7805-B2AD-A28F-3878-A895E51E8045}"/>
              </a:ext>
            </a:extLst>
          </p:cNvPr>
          <p:cNvSpPr txBox="1"/>
          <p:nvPr/>
        </p:nvSpPr>
        <p:spPr>
          <a:xfrm>
            <a:off x="6283570" y="1592643"/>
            <a:ext cx="3282462" cy="369332"/>
          </a:xfrm>
          <a:prstGeom prst="rect">
            <a:avLst/>
          </a:prstGeom>
          <a:noFill/>
        </p:spPr>
        <p:txBody>
          <a:bodyPr wrap="square">
            <a:spAutoFit/>
          </a:bodyPr>
          <a:lstStyle/>
          <a:p>
            <a:r>
              <a:rPr lang="en-US" b="0" i="1" dirty="0">
                <a:solidFill>
                  <a:srgbClr val="222222"/>
                </a:solidFill>
                <a:effectLst/>
                <a:latin typeface="Lato" panose="020F0502020204030203" pitchFamily="34" charset="0"/>
              </a:rPr>
              <a:t>2. </a:t>
            </a:r>
            <a:r>
              <a:rPr lang="en-US" b="1" i="0" u="sng" dirty="0">
                <a:solidFill>
                  <a:srgbClr val="222222"/>
                </a:solidFill>
                <a:effectLst/>
                <a:latin typeface="Lato" panose="020F0502020204030203" pitchFamily="34" charset="0"/>
              </a:rPr>
              <a:t>Independence of residuals:</a:t>
            </a:r>
            <a:endParaRPr lang="en-US" dirty="0"/>
          </a:p>
        </p:txBody>
      </p:sp>
      <p:sp>
        <p:nvSpPr>
          <p:cNvPr id="11" name="ZoneTexte 10">
            <a:extLst>
              <a:ext uri="{FF2B5EF4-FFF2-40B4-BE49-F238E27FC236}">
                <a16:creationId xmlns:a16="http://schemas.microsoft.com/office/drawing/2014/main" id="{510F471A-4D24-CF01-2582-61BC46965FA8}"/>
              </a:ext>
            </a:extLst>
          </p:cNvPr>
          <p:cNvSpPr txBox="1"/>
          <p:nvPr/>
        </p:nvSpPr>
        <p:spPr>
          <a:xfrm>
            <a:off x="687754" y="3968997"/>
            <a:ext cx="6096000" cy="369332"/>
          </a:xfrm>
          <a:prstGeom prst="rect">
            <a:avLst/>
          </a:prstGeom>
          <a:noFill/>
        </p:spPr>
        <p:txBody>
          <a:bodyPr wrap="square">
            <a:spAutoFit/>
          </a:bodyPr>
          <a:lstStyle/>
          <a:p>
            <a:r>
              <a:rPr lang="en-US" b="1" i="0" dirty="0">
                <a:solidFill>
                  <a:srgbClr val="222222"/>
                </a:solidFill>
                <a:effectLst/>
                <a:latin typeface="Lato" panose="020F0502020204030203" pitchFamily="34" charset="0"/>
              </a:rPr>
              <a:t>3. </a:t>
            </a:r>
            <a:r>
              <a:rPr lang="en-US" b="1" i="0" u="sng" dirty="0">
                <a:solidFill>
                  <a:srgbClr val="222222"/>
                </a:solidFill>
                <a:effectLst/>
                <a:latin typeface="Lato" panose="020F0502020204030203" pitchFamily="34" charset="0"/>
              </a:rPr>
              <a:t>Normal distribution of residuals:</a:t>
            </a:r>
            <a:endParaRPr lang="en-US" dirty="0"/>
          </a:p>
        </p:txBody>
      </p:sp>
      <p:pic>
        <p:nvPicPr>
          <p:cNvPr id="1026" name="Picture 2" descr="Normal distribution of residual">
            <a:extLst>
              <a:ext uri="{FF2B5EF4-FFF2-40B4-BE49-F238E27FC236}">
                <a16:creationId xmlns:a16="http://schemas.microsoft.com/office/drawing/2014/main" id="{A3CE60A5-7525-A26C-AD19-56BCAA6C46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159" y="4775076"/>
            <a:ext cx="4773243" cy="1325563"/>
          </a:xfrm>
          <a:prstGeom prst="rect">
            <a:avLst/>
          </a:prstGeom>
          <a:noFill/>
          <a:extLst>
            <a:ext uri="{909E8E84-426E-40DD-AFC4-6F175D3DCCD1}">
              <a14:hiddenFill xmlns:a14="http://schemas.microsoft.com/office/drawing/2010/main">
                <a:solidFill>
                  <a:srgbClr val="FFFFFF"/>
                </a:solidFill>
              </a14:hiddenFill>
            </a:ext>
          </a:extLst>
        </p:spPr>
      </p:pic>
      <p:sp>
        <p:nvSpPr>
          <p:cNvPr id="13" name="ZoneTexte 12">
            <a:extLst>
              <a:ext uri="{FF2B5EF4-FFF2-40B4-BE49-F238E27FC236}">
                <a16:creationId xmlns:a16="http://schemas.microsoft.com/office/drawing/2014/main" id="{E21A6C0E-0A93-2C4A-F904-87BE4B29F8EA}"/>
              </a:ext>
            </a:extLst>
          </p:cNvPr>
          <p:cNvSpPr txBox="1"/>
          <p:nvPr/>
        </p:nvSpPr>
        <p:spPr>
          <a:xfrm>
            <a:off x="5889371" y="4002704"/>
            <a:ext cx="6096000" cy="369332"/>
          </a:xfrm>
          <a:prstGeom prst="rect">
            <a:avLst/>
          </a:prstGeom>
          <a:noFill/>
        </p:spPr>
        <p:txBody>
          <a:bodyPr wrap="square">
            <a:spAutoFit/>
          </a:bodyPr>
          <a:lstStyle/>
          <a:p>
            <a:r>
              <a:rPr lang="en-US" b="1" i="0" dirty="0">
                <a:solidFill>
                  <a:srgbClr val="222222"/>
                </a:solidFill>
                <a:effectLst/>
                <a:latin typeface="Lato" panose="020F0502020204030203" pitchFamily="34" charset="0"/>
              </a:rPr>
              <a:t>4. </a:t>
            </a:r>
            <a:r>
              <a:rPr lang="en-US" b="1" i="0" u="sng" dirty="0">
                <a:solidFill>
                  <a:srgbClr val="222222"/>
                </a:solidFill>
                <a:effectLst/>
                <a:latin typeface="Lato" panose="020F0502020204030203" pitchFamily="34" charset="0"/>
              </a:rPr>
              <a:t>The equal variance of residuals:</a:t>
            </a:r>
            <a:endParaRPr lang="en-US" u="sng" dirty="0"/>
          </a:p>
        </p:txBody>
      </p:sp>
      <p:pic>
        <p:nvPicPr>
          <p:cNvPr id="15" name="Image 14">
            <a:extLst>
              <a:ext uri="{FF2B5EF4-FFF2-40B4-BE49-F238E27FC236}">
                <a16:creationId xmlns:a16="http://schemas.microsoft.com/office/drawing/2014/main" id="{EF2F8DD1-E55C-0C98-3F47-696838BC3E20}"/>
              </a:ext>
            </a:extLst>
          </p:cNvPr>
          <p:cNvPicPr>
            <a:picLocks noChangeAspect="1"/>
          </p:cNvPicPr>
          <p:nvPr/>
        </p:nvPicPr>
        <p:blipFill>
          <a:blip r:embed="rId4"/>
          <a:stretch>
            <a:fillRect/>
          </a:stretch>
        </p:blipFill>
        <p:spPr>
          <a:xfrm>
            <a:off x="6283570" y="2112329"/>
            <a:ext cx="3282462" cy="1648679"/>
          </a:xfrm>
          <a:prstGeom prst="rect">
            <a:avLst/>
          </a:prstGeom>
        </p:spPr>
      </p:pic>
      <p:pic>
        <p:nvPicPr>
          <p:cNvPr id="19" name="Image 18">
            <a:extLst>
              <a:ext uri="{FF2B5EF4-FFF2-40B4-BE49-F238E27FC236}">
                <a16:creationId xmlns:a16="http://schemas.microsoft.com/office/drawing/2014/main" id="{62623927-5BE3-6D8E-8E6F-A4B0507FFC3A}"/>
              </a:ext>
            </a:extLst>
          </p:cNvPr>
          <p:cNvPicPr>
            <a:picLocks noChangeAspect="1"/>
          </p:cNvPicPr>
          <p:nvPr/>
        </p:nvPicPr>
        <p:blipFill>
          <a:blip r:embed="rId5"/>
          <a:stretch>
            <a:fillRect/>
          </a:stretch>
        </p:blipFill>
        <p:spPr>
          <a:xfrm>
            <a:off x="1201562" y="2261347"/>
            <a:ext cx="3156435" cy="1622641"/>
          </a:xfrm>
          <a:prstGeom prst="rect">
            <a:avLst/>
          </a:prstGeom>
        </p:spPr>
      </p:pic>
      <p:pic>
        <p:nvPicPr>
          <p:cNvPr id="21" name="Image 20">
            <a:extLst>
              <a:ext uri="{FF2B5EF4-FFF2-40B4-BE49-F238E27FC236}">
                <a16:creationId xmlns:a16="http://schemas.microsoft.com/office/drawing/2014/main" id="{6E93D7A0-6EDD-337F-C743-7981573D67E4}"/>
              </a:ext>
            </a:extLst>
          </p:cNvPr>
          <p:cNvPicPr>
            <a:picLocks noChangeAspect="1"/>
          </p:cNvPicPr>
          <p:nvPr/>
        </p:nvPicPr>
        <p:blipFill>
          <a:blip r:embed="rId6"/>
          <a:stretch>
            <a:fillRect/>
          </a:stretch>
        </p:blipFill>
        <p:spPr>
          <a:xfrm>
            <a:off x="6243755" y="4609615"/>
            <a:ext cx="3494605" cy="1788577"/>
          </a:xfrm>
          <a:prstGeom prst="rect">
            <a:avLst/>
          </a:prstGeom>
        </p:spPr>
      </p:pic>
      <p:sp>
        <p:nvSpPr>
          <p:cNvPr id="22" name="Rectangle 21">
            <a:extLst>
              <a:ext uri="{FF2B5EF4-FFF2-40B4-BE49-F238E27FC236}">
                <a16:creationId xmlns:a16="http://schemas.microsoft.com/office/drawing/2014/main" id="{C7419C78-A701-E2F7-45A0-0AD95F99D687}"/>
              </a:ext>
            </a:extLst>
          </p:cNvPr>
          <p:cNvSpPr/>
          <p:nvPr/>
        </p:nvSpPr>
        <p:spPr>
          <a:xfrm>
            <a:off x="472040" y="1088123"/>
            <a:ext cx="11247920" cy="1355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4408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B640570-3FEC-D06F-19B4-21A70227886D}"/>
              </a:ext>
            </a:extLst>
          </p:cNvPr>
          <p:cNvSpPr>
            <a:spLocks noGrp="1"/>
          </p:cNvSpPr>
          <p:nvPr>
            <p:ph type="title"/>
          </p:nvPr>
        </p:nvSpPr>
        <p:spPr>
          <a:xfrm>
            <a:off x="838200" y="190827"/>
            <a:ext cx="10515600" cy="1325563"/>
          </a:xfrm>
        </p:spPr>
        <p:txBody>
          <a:bodyPr/>
          <a:lstStyle/>
          <a:p>
            <a:r>
              <a:rPr lang="en-US" altLang="en-US" dirty="0">
                <a:solidFill>
                  <a:srgbClr val="3333FF"/>
                </a:solidFill>
                <a:latin typeface="Cooper Black" panose="0208090404030B020404" pitchFamily="18" charset="0"/>
              </a:rPr>
              <a:t>Four hypothetical datasets:</a:t>
            </a:r>
            <a:endParaRPr lang="en-US" dirty="0">
              <a:solidFill>
                <a:srgbClr val="3333FF"/>
              </a:solidFill>
              <a:latin typeface="Cooper Black" panose="0208090404030B020404" pitchFamily="18" charset="0"/>
            </a:endParaRPr>
          </a:p>
        </p:txBody>
      </p:sp>
      <p:pic>
        <p:nvPicPr>
          <p:cNvPr id="15" name="Image 14">
            <a:extLst>
              <a:ext uri="{FF2B5EF4-FFF2-40B4-BE49-F238E27FC236}">
                <a16:creationId xmlns:a16="http://schemas.microsoft.com/office/drawing/2014/main" id="{B6CC99D4-A326-3883-D6DE-0F4BC3402BD0}"/>
              </a:ext>
            </a:extLst>
          </p:cNvPr>
          <p:cNvPicPr>
            <a:picLocks noChangeAspect="1"/>
          </p:cNvPicPr>
          <p:nvPr/>
        </p:nvPicPr>
        <p:blipFill>
          <a:blip r:embed="rId2"/>
          <a:stretch>
            <a:fillRect/>
          </a:stretch>
        </p:blipFill>
        <p:spPr>
          <a:xfrm>
            <a:off x="1768712" y="1919887"/>
            <a:ext cx="2827280" cy="2117927"/>
          </a:xfrm>
          <a:prstGeom prst="rect">
            <a:avLst/>
          </a:prstGeom>
        </p:spPr>
      </p:pic>
      <p:pic>
        <p:nvPicPr>
          <p:cNvPr id="17" name="Image 16">
            <a:extLst>
              <a:ext uri="{FF2B5EF4-FFF2-40B4-BE49-F238E27FC236}">
                <a16:creationId xmlns:a16="http://schemas.microsoft.com/office/drawing/2014/main" id="{FE275FC7-F054-C1F6-DD83-EC6BE0F86677}"/>
              </a:ext>
            </a:extLst>
          </p:cNvPr>
          <p:cNvPicPr>
            <a:picLocks noChangeAspect="1"/>
          </p:cNvPicPr>
          <p:nvPr/>
        </p:nvPicPr>
        <p:blipFill>
          <a:blip r:embed="rId3"/>
          <a:stretch>
            <a:fillRect/>
          </a:stretch>
        </p:blipFill>
        <p:spPr>
          <a:xfrm>
            <a:off x="7123380" y="2033858"/>
            <a:ext cx="2929437" cy="2096860"/>
          </a:xfrm>
          <a:prstGeom prst="rect">
            <a:avLst/>
          </a:prstGeom>
        </p:spPr>
      </p:pic>
      <p:pic>
        <p:nvPicPr>
          <p:cNvPr id="19" name="Image 18">
            <a:extLst>
              <a:ext uri="{FF2B5EF4-FFF2-40B4-BE49-F238E27FC236}">
                <a16:creationId xmlns:a16="http://schemas.microsoft.com/office/drawing/2014/main" id="{9694B19E-F623-498F-80DA-F059C61E0769}"/>
              </a:ext>
            </a:extLst>
          </p:cNvPr>
          <p:cNvPicPr>
            <a:picLocks noChangeAspect="1"/>
          </p:cNvPicPr>
          <p:nvPr/>
        </p:nvPicPr>
        <p:blipFill>
          <a:blip r:embed="rId4"/>
          <a:stretch>
            <a:fillRect/>
          </a:stretch>
        </p:blipFill>
        <p:spPr>
          <a:xfrm>
            <a:off x="1660431" y="4754308"/>
            <a:ext cx="2634441" cy="1831093"/>
          </a:xfrm>
          <a:prstGeom prst="rect">
            <a:avLst/>
          </a:prstGeom>
        </p:spPr>
      </p:pic>
      <p:pic>
        <p:nvPicPr>
          <p:cNvPr id="21" name="Image 20">
            <a:extLst>
              <a:ext uri="{FF2B5EF4-FFF2-40B4-BE49-F238E27FC236}">
                <a16:creationId xmlns:a16="http://schemas.microsoft.com/office/drawing/2014/main" id="{21E2C56E-AA84-CE90-70CE-021EC3052FCC}"/>
              </a:ext>
            </a:extLst>
          </p:cNvPr>
          <p:cNvPicPr>
            <a:picLocks noChangeAspect="1"/>
          </p:cNvPicPr>
          <p:nvPr/>
        </p:nvPicPr>
        <p:blipFill>
          <a:blip r:embed="rId5"/>
          <a:stretch>
            <a:fillRect/>
          </a:stretch>
        </p:blipFill>
        <p:spPr>
          <a:xfrm>
            <a:off x="6983186" y="4577243"/>
            <a:ext cx="2827630" cy="2209402"/>
          </a:xfrm>
          <a:prstGeom prst="rect">
            <a:avLst/>
          </a:prstGeom>
        </p:spPr>
      </p:pic>
      <p:sp>
        <p:nvSpPr>
          <p:cNvPr id="25" name="ZoneTexte 24">
            <a:extLst>
              <a:ext uri="{FF2B5EF4-FFF2-40B4-BE49-F238E27FC236}">
                <a16:creationId xmlns:a16="http://schemas.microsoft.com/office/drawing/2014/main" id="{566ECFE0-CC53-C829-1BE8-5A81E2ED55F1}"/>
              </a:ext>
            </a:extLst>
          </p:cNvPr>
          <p:cNvSpPr txBox="1"/>
          <p:nvPr/>
        </p:nvSpPr>
        <p:spPr>
          <a:xfrm>
            <a:off x="1768712" y="1533472"/>
            <a:ext cx="1735015" cy="369332"/>
          </a:xfrm>
          <a:prstGeom prst="rect">
            <a:avLst/>
          </a:prstGeom>
          <a:noFill/>
        </p:spPr>
        <p:txBody>
          <a:bodyPr wrap="square">
            <a:spAutoFit/>
          </a:bodyPr>
          <a:lstStyle/>
          <a:p>
            <a:r>
              <a:rPr lang="en-US" altLang="en-US" dirty="0"/>
              <a:t>no relationship</a:t>
            </a:r>
            <a:endParaRPr lang="en-US" dirty="0"/>
          </a:p>
        </p:txBody>
      </p:sp>
      <p:sp>
        <p:nvSpPr>
          <p:cNvPr id="27" name="ZoneTexte 26">
            <a:extLst>
              <a:ext uri="{FF2B5EF4-FFF2-40B4-BE49-F238E27FC236}">
                <a16:creationId xmlns:a16="http://schemas.microsoft.com/office/drawing/2014/main" id="{EE022AF6-05B3-BA82-85B8-5E1F2D753411}"/>
              </a:ext>
            </a:extLst>
          </p:cNvPr>
          <p:cNvSpPr txBox="1"/>
          <p:nvPr/>
        </p:nvSpPr>
        <p:spPr>
          <a:xfrm>
            <a:off x="6568838" y="1554663"/>
            <a:ext cx="2000738" cy="369332"/>
          </a:xfrm>
          <a:prstGeom prst="rect">
            <a:avLst/>
          </a:prstGeom>
          <a:noFill/>
        </p:spPr>
        <p:txBody>
          <a:bodyPr wrap="square">
            <a:spAutoFit/>
          </a:bodyPr>
          <a:lstStyle/>
          <a:p>
            <a:r>
              <a:rPr lang="en-US" altLang="en-US" dirty="0"/>
              <a:t>weak relationship</a:t>
            </a:r>
            <a:endParaRPr lang="en-US" dirty="0"/>
          </a:p>
        </p:txBody>
      </p:sp>
      <p:sp>
        <p:nvSpPr>
          <p:cNvPr id="29" name="ZoneTexte 28">
            <a:extLst>
              <a:ext uri="{FF2B5EF4-FFF2-40B4-BE49-F238E27FC236}">
                <a16:creationId xmlns:a16="http://schemas.microsoft.com/office/drawing/2014/main" id="{20CD459C-F1FD-476F-9596-B9E57A890669}"/>
              </a:ext>
            </a:extLst>
          </p:cNvPr>
          <p:cNvSpPr txBox="1"/>
          <p:nvPr/>
        </p:nvSpPr>
        <p:spPr>
          <a:xfrm>
            <a:off x="1660431" y="4271783"/>
            <a:ext cx="3065787" cy="369332"/>
          </a:xfrm>
          <a:prstGeom prst="rect">
            <a:avLst/>
          </a:prstGeom>
          <a:noFill/>
        </p:spPr>
        <p:txBody>
          <a:bodyPr wrap="square">
            <a:spAutoFit/>
          </a:bodyPr>
          <a:lstStyle/>
          <a:p>
            <a:r>
              <a:rPr lang="en-US" altLang="en-US" dirty="0"/>
              <a:t>weak to moderate relationship</a:t>
            </a:r>
            <a:endParaRPr lang="en-US" dirty="0"/>
          </a:p>
        </p:txBody>
      </p:sp>
      <p:sp>
        <p:nvSpPr>
          <p:cNvPr id="31" name="ZoneTexte 30">
            <a:extLst>
              <a:ext uri="{FF2B5EF4-FFF2-40B4-BE49-F238E27FC236}">
                <a16:creationId xmlns:a16="http://schemas.microsoft.com/office/drawing/2014/main" id="{2665FC62-2CA2-42A5-85EB-2AF6BD2C0BFC}"/>
              </a:ext>
            </a:extLst>
          </p:cNvPr>
          <p:cNvSpPr txBox="1"/>
          <p:nvPr/>
        </p:nvSpPr>
        <p:spPr>
          <a:xfrm>
            <a:off x="6568838" y="4256214"/>
            <a:ext cx="2634064" cy="369332"/>
          </a:xfrm>
          <a:prstGeom prst="rect">
            <a:avLst/>
          </a:prstGeom>
          <a:noFill/>
        </p:spPr>
        <p:txBody>
          <a:bodyPr wrap="square">
            <a:spAutoFit/>
          </a:bodyPr>
          <a:lstStyle/>
          <a:p>
            <a:r>
              <a:rPr lang="en-US" altLang="en-US" dirty="0"/>
              <a:t>moderate relationship</a:t>
            </a:r>
            <a:endParaRPr lang="en-US" dirty="0"/>
          </a:p>
        </p:txBody>
      </p:sp>
      <p:sp>
        <p:nvSpPr>
          <p:cNvPr id="32" name="Rectangle 31">
            <a:extLst>
              <a:ext uri="{FF2B5EF4-FFF2-40B4-BE49-F238E27FC236}">
                <a16:creationId xmlns:a16="http://schemas.microsoft.com/office/drawing/2014/main" id="{FA9DA8ED-4546-7D15-78BA-E0493D9D5941}"/>
              </a:ext>
            </a:extLst>
          </p:cNvPr>
          <p:cNvSpPr/>
          <p:nvPr/>
        </p:nvSpPr>
        <p:spPr>
          <a:xfrm>
            <a:off x="472040" y="1160383"/>
            <a:ext cx="11247920" cy="1355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573387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4C3615-2CEC-EB1C-C113-C348DE55A773}"/>
              </a:ext>
            </a:extLst>
          </p:cNvPr>
          <p:cNvSpPr>
            <a:spLocks noGrp="1"/>
          </p:cNvSpPr>
          <p:nvPr>
            <p:ph type="title"/>
          </p:nvPr>
        </p:nvSpPr>
        <p:spPr/>
        <p:txBody>
          <a:bodyPr/>
          <a:lstStyle/>
          <a:p>
            <a:r>
              <a:rPr lang="en-US" dirty="0">
                <a:solidFill>
                  <a:srgbClr val="3333FF"/>
                </a:solidFill>
                <a:latin typeface="Cooper Black" panose="0208090404030B020404" pitchFamily="18" charset="0"/>
              </a:rPr>
              <a:t>Residuals:</a:t>
            </a:r>
          </a:p>
        </p:txBody>
      </p:sp>
      <p:sp>
        <p:nvSpPr>
          <p:cNvPr id="3" name="Espace réservé du contenu 2">
            <a:extLst>
              <a:ext uri="{FF2B5EF4-FFF2-40B4-BE49-F238E27FC236}">
                <a16:creationId xmlns:a16="http://schemas.microsoft.com/office/drawing/2014/main" id="{0754B547-B7AD-DF04-0E23-F3475F8505FE}"/>
              </a:ext>
            </a:extLst>
          </p:cNvPr>
          <p:cNvSpPr>
            <a:spLocks noGrp="1"/>
          </p:cNvSpPr>
          <p:nvPr>
            <p:ph idx="1"/>
          </p:nvPr>
        </p:nvSpPr>
        <p:spPr/>
        <p:txBody>
          <a:bodyPr/>
          <a:lstStyle/>
          <a:p>
            <a:r>
              <a:rPr lang="en-US" dirty="0"/>
              <a:t>next we will determine the equation of the line that can be used to predict the value of y for a given value of x.</a:t>
            </a:r>
          </a:p>
          <a:p>
            <a:endParaRPr lang="en-US" dirty="0"/>
          </a:p>
          <a:p>
            <a:endParaRPr lang="en-US" dirty="0"/>
          </a:p>
          <a:p>
            <a:endParaRPr lang="en-US" dirty="0"/>
          </a:p>
          <a:p>
            <a:endParaRPr lang="en-US" dirty="0"/>
          </a:p>
          <a:p>
            <a:r>
              <a:rPr lang="en-US" dirty="0"/>
              <a:t>Each data point d; represents the difference between the observed y-value and the predicted y-value for a given x- value on the line. These differences are called </a:t>
            </a:r>
            <a:r>
              <a:rPr lang="en-US" u="sng" dirty="0">
                <a:solidFill>
                  <a:srgbClr val="0070C0"/>
                </a:solidFill>
              </a:rPr>
              <a:t>residuals</a:t>
            </a:r>
            <a:r>
              <a:rPr lang="en-US" dirty="0"/>
              <a:t>.</a:t>
            </a:r>
          </a:p>
        </p:txBody>
      </p:sp>
      <p:pic>
        <p:nvPicPr>
          <p:cNvPr id="5" name="Image 4">
            <a:extLst>
              <a:ext uri="{FF2B5EF4-FFF2-40B4-BE49-F238E27FC236}">
                <a16:creationId xmlns:a16="http://schemas.microsoft.com/office/drawing/2014/main" id="{1A393BD3-208C-E368-5A46-8BCF0495B2DA}"/>
              </a:ext>
            </a:extLst>
          </p:cNvPr>
          <p:cNvPicPr>
            <a:picLocks noChangeAspect="1"/>
          </p:cNvPicPr>
          <p:nvPr/>
        </p:nvPicPr>
        <p:blipFill>
          <a:blip r:embed="rId2"/>
          <a:stretch>
            <a:fillRect/>
          </a:stretch>
        </p:blipFill>
        <p:spPr>
          <a:xfrm>
            <a:off x="1244199" y="2823409"/>
            <a:ext cx="4604665" cy="1621554"/>
          </a:xfrm>
          <a:prstGeom prst="rect">
            <a:avLst/>
          </a:prstGeom>
        </p:spPr>
      </p:pic>
      <p:pic>
        <p:nvPicPr>
          <p:cNvPr id="3076" name="Picture 4" descr="Visualizing Optimization in Linear Regression and Logistic Regression | by  Logan Yang | The Startup | Medium">
            <a:extLst>
              <a:ext uri="{FF2B5EF4-FFF2-40B4-BE49-F238E27FC236}">
                <a16:creationId xmlns:a16="http://schemas.microsoft.com/office/drawing/2014/main" id="{F2EFF369-5CF3-9A19-CDED-3AF5635A70E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7114" y="2627871"/>
            <a:ext cx="4785928" cy="201263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DD97A62F-7711-AB6B-8584-2D443C014320}"/>
              </a:ext>
            </a:extLst>
          </p:cNvPr>
          <p:cNvSpPr/>
          <p:nvPr/>
        </p:nvSpPr>
        <p:spPr>
          <a:xfrm>
            <a:off x="558598" y="1291644"/>
            <a:ext cx="11247920" cy="1355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3166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007178-5805-9EDA-5B6E-81FCBD13B431}"/>
              </a:ext>
            </a:extLst>
          </p:cNvPr>
          <p:cNvSpPr>
            <a:spLocks noGrp="1"/>
          </p:cNvSpPr>
          <p:nvPr>
            <p:ph type="title"/>
          </p:nvPr>
        </p:nvSpPr>
        <p:spPr/>
        <p:txBody>
          <a:bodyPr/>
          <a:lstStyle/>
          <a:p>
            <a:r>
              <a:rPr lang="fr-FR" dirty="0"/>
              <a:t> </a:t>
            </a:r>
            <a:endParaRPr lang="en-US" dirty="0"/>
          </a:p>
        </p:txBody>
      </p:sp>
      <p:sp>
        <p:nvSpPr>
          <p:cNvPr id="3" name="Espace réservé du contenu 2">
            <a:extLst>
              <a:ext uri="{FF2B5EF4-FFF2-40B4-BE49-F238E27FC236}">
                <a16:creationId xmlns:a16="http://schemas.microsoft.com/office/drawing/2014/main" id="{49FB5B24-CE15-618D-6A4E-3671B00AF320}"/>
              </a:ext>
            </a:extLst>
          </p:cNvPr>
          <p:cNvSpPr>
            <a:spLocks noGrp="1"/>
          </p:cNvSpPr>
          <p:nvPr>
            <p:ph idx="1"/>
          </p:nvPr>
        </p:nvSpPr>
        <p:spPr>
          <a:xfrm>
            <a:off x="444843" y="1375719"/>
            <a:ext cx="6695259" cy="4801244"/>
          </a:xfrm>
        </p:spPr>
        <p:txBody>
          <a:bodyPr>
            <a:normAutofit/>
          </a:bodyPr>
          <a:lstStyle/>
          <a:p>
            <a:endParaRPr lang="en-US" sz="2000" b="0" i="0" dirty="0">
              <a:solidFill>
                <a:srgbClr val="222222"/>
              </a:solidFill>
              <a:effectLst/>
              <a:latin typeface="Lato" panose="020F0502020204030203" pitchFamily="34" charset="0"/>
            </a:endParaRPr>
          </a:p>
          <a:p>
            <a:r>
              <a:rPr lang="en-US" sz="2000" b="0" i="0" dirty="0">
                <a:solidFill>
                  <a:srgbClr val="222222"/>
                </a:solidFill>
                <a:effectLst/>
                <a:latin typeface="Lato" panose="020F0502020204030203" pitchFamily="34" charset="0"/>
              </a:rPr>
              <a:t>Imagine you have information about the height and weight of ten people. You can create a graph with weight on one side and height on the other. If height and weight are perfectly related, all points on the graph would make a </a:t>
            </a:r>
            <a:r>
              <a:rPr lang="en-US" sz="2000" b="0" i="0" u="sng" dirty="0">
                <a:solidFill>
                  <a:srgbClr val="222222"/>
                </a:solidFill>
                <a:effectLst/>
                <a:latin typeface="Lato" panose="020F0502020204030203" pitchFamily="34" charset="0"/>
              </a:rPr>
              <a:t>straight line</a:t>
            </a:r>
            <a:r>
              <a:rPr lang="en-US" sz="2000" b="0" i="0" dirty="0">
                <a:solidFill>
                  <a:srgbClr val="222222"/>
                </a:solidFill>
                <a:effectLst/>
                <a:latin typeface="Lato" panose="020F0502020204030203" pitchFamily="34" charset="0"/>
              </a:rPr>
              <a:t>. However, in real life, this rarely happens. If there is a (nonperfect) linear relationship between height and weight, then you would get a cluster of points on the graph which slopes upward.</a:t>
            </a:r>
          </a:p>
          <a:p>
            <a:r>
              <a:rPr lang="en-US" sz="2000" b="0" i="0" dirty="0">
                <a:solidFill>
                  <a:srgbClr val="222222"/>
                </a:solidFill>
                <a:effectLst/>
                <a:latin typeface="Lato" panose="020F0502020204030203" pitchFamily="34" charset="0"/>
              </a:rPr>
              <a:t> Basically, heavier people tend to be taller than lighter ones.</a:t>
            </a:r>
            <a:endParaRPr lang="en-US" sz="2000" dirty="0"/>
          </a:p>
        </p:txBody>
      </p:sp>
      <p:pic>
        <p:nvPicPr>
          <p:cNvPr id="7" name="Image 6">
            <a:extLst>
              <a:ext uri="{FF2B5EF4-FFF2-40B4-BE49-F238E27FC236}">
                <a16:creationId xmlns:a16="http://schemas.microsoft.com/office/drawing/2014/main" id="{1988AEBA-12B1-847C-AD67-F0893C6E13DE}"/>
              </a:ext>
            </a:extLst>
          </p:cNvPr>
          <p:cNvPicPr>
            <a:picLocks noChangeAspect="1"/>
          </p:cNvPicPr>
          <p:nvPr/>
        </p:nvPicPr>
        <p:blipFill>
          <a:blip r:embed="rId2"/>
          <a:stretch>
            <a:fillRect/>
          </a:stretch>
        </p:blipFill>
        <p:spPr>
          <a:xfrm>
            <a:off x="7227061" y="2064293"/>
            <a:ext cx="4038950" cy="3109229"/>
          </a:xfrm>
          <a:prstGeom prst="rect">
            <a:avLst/>
          </a:prstGeom>
        </p:spPr>
      </p:pic>
      <p:sp>
        <p:nvSpPr>
          <p:cNvPr id="4" name="Titre 1">
            <a:extLst>
              <a:ext uri="{FF2B5EF4-FFF2-40B4-BE49-F238E27FC236}">
                <a16:creationId xmlns:a16="http://schemas.microsoft.com/office/drawing/2014/main" id="{EB822FE5-2CCB-D5CF-5F7A-1801DC6C7A94}"/>
              </a:ext>
            </a:extLst>
          </p:cNvPr>
          <p:cNvSpPr txBox="1">
            <a:spLocks/>
          </p:cNvSpPr>
          <p:nvPr/>
        </p:nvSpPr>
        <p:spPr>
          <a:xfrm>
            <a:off x="1120347" y="555208"/>
            <a:ext cx="9144000" cy="1159518"/>
          </a:xfrm>
          <a:prstGeom prst="rect">
            <a:avLst/>
          </a:prstGeom>
        </p:spPr>
        <p:txBody>
          <a:bodyPr vert="horz" lIns="91440" tIns="45720" rIns="91440" bIns="45720" rtlCol="0" anchor="ctr">
            <a:normAutofit fontScale="90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solidFill>
                  <a:srgbClr val="3333FF"/>
                </a:solidFill>
                <a:latin typeface="Cooper Black" panose="0208090404030B020404" pitchFamily="18" charset="0"/>
              </a:rPr>
              <a:t>Example:</a:t>
            </a:r>
            <a:br>
              <a:rPr lang="en-US" dirty="0">
                <a:solidFill>
                  <a:srgbClr val="222222"/>
                </a:solidFill>
                <a:latin typeface="Lato" panose="020F0502020204030203" pitchFamily="34" charset="0"/>
              </a:rPr>
            </a:br>
            <a:endParaRPr lang="en-US" dirty="0"/>
          </a:p>
        </p:txBody>
      </p:sp>
      <p:sp>
        <p:nvSpPr>
          <p:cNvPr id="5" name="Rectangle 4">
            <a:extLst>
              <a:ext uri="{FF2B5EF4-FFF2-40B4-BE49-F238E27FC236}">
                <a16:creationId xmlns:a16="http://schemas.microsoft.com/office/drawing/2014/main" id="{3FE3BE76-6239-122B-D13E-C06B9BC20ECC}"/>
              </a:ext>
            </a:extLst>
          </p:cNvPr>
          <p:cNvSpPr/>
          <p:nvPr/>
        </p:nvSpPr>
        <p:spPr>
          <a:xfrm>
            <a:off x="549633" y="1177100"/>
            <a:ext cx="11247920" cy="1355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6166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5383892-C958-361F-1728-EBC7DE8353F8}"/>
              </a:ext>
            </a:extLst>
          </p:cNvPr>
          <p:cNvSpPr>
            <a:spLocks noGrp="1"/>
          </p:cNvSpPr>
          <p:nvPr>
            <p:ph type="title"/>
          </p:nvPr>
        </p:nvSpPr>
        <p:spPr/>
        <p:txBody>
          <a:bodyPr/>
          <a:lstStyle/>
          <a:p>
            <a:r>
              <a:rPr lang="en-US" dirty="0">
                <a:solidFill>
                  <a:srgbClr val="3333FF"/>
                </a:solidFill>
                <a:latin typeface="Cooper Black" panose="0208090404030B020404" pitchFamily="18" charset="0"/>
              </a:rPr>
              <a:t>Regression Line</a:t>
            </a:r>
            <a:br>
              <a:rPr lang="en-US" dirty="0"/>
            </a:br>
            <a:endParaRPr lang="en-US" dirty="0"/>
          </a:p>
        </p:txBody>
      </p:sp>
      <p:sp>
        <p:nvSpPr>
          <p:cNvPr id="3" name="Espace réservé du contenu 2">
            <a:extLst>
              <a:ext uri="{FF2B5EF4-FFF2-40B4-BE49-F238E27FC236}">
                <a16:creationId xmlns:a16="http://schemas.microsoft.com/office/drawing/2014/main" id="{C88DE08B-F2AD-714F-F773-579F2307BC0A}"/>
              </a:ext>
            </a:extLst>
          </p:cNvPr>
          <p:cNvSpPr>
            <a:spLocks noGrp="1"/>
          </p:cNvSpPr>
          <p:nvPr>
            <p:ph idx="1"/>
          </p:nvPr>
        </p:nvSpPr>
        <p:spPr>
          <a:xfrm>
            <a:off x="838200" y="1147864"/>
            <a:ext cx="10515600" cy="5029099"/>
          </a:xfrm>
        </p:spPr>
        <p:txBody>
          <a:bodyPr>
            <a:normAutofit/>
          </a:bodyPr>
          <a:lstStyle/>
          <a:p>
            <a:endParaRPr lang="en-US" dirty="0"/>
          </a:p>
          <a:p>
            <a:r>
              <a:rPr lang="en-US" sz="2400" dirty="0"/>
              <a:t>The equation of regression line is                                where:</a:t>
            </a:r>
          </a:p>
          <a:p>
            <a:pPr marL="0" indent="0">
              <a:buNone/>
            </a:pPr>
            <a:endParaRPr lang="en-US" sz="2400" dirty="0"/>
          </a:p>
          <a:p>
            <a:pPr marL="0" indent="0">
              <a:buNone/>
            </a:pPr>
            <a:r>
              <a:rPr lang="en-US" sz="2400" dirty="0"/>
              <a:t>m is the slope of the line:</a:t>
            </a:r>
          </a:p>
          <a:p>
            <a:pPr marL="0" indent="0">
              <a:buNone/>
            </a:pPr>
            <a:endParaRPr lang="en-US" sz="2400" dirty="0"/>
          </a:p>
          <a:p>
            <a:pPr marL="0" indent="0">
              <a:buNone/>
            </a:pPr>
            <a:r>
              <a:rPr lang="en-US" sz="2400" dirty="0"/>
              <a:t>And b is the y-</a:t>
            </a:r>
            <a:r>
              <a:rPr lang="en-US" sz="2400" dirty="0" err="1"/>
              <a:t>intersept</a:t>
            </a:r>
            <a:r>
              <a:rPr lang="en-US" sz="2400" dirty="0"/>
              <a:t>:</a:t>
            </a:r>
          </a:p>
          <a:p>
            <a:pPr marL="0" indent="0">
              <a:buNone/>
            </a:pPr>
            <a:endParaRPr lang="en-US" sz="2400" dirty="0"/>
          </a:p>
          <a:p>
            <a:pPr marL="0" indent="0">
              <a:buNone/>
            </a:pPr>
            <a:r>
              <a:rPr lang="en-US" sz="2400" dirty="0"/>
              <a:t> </a:t>
            </a:r>
            <a:br>
              <a:rPr lang="pt-BR" sz="1100" b="0" i="0" dirty="0">
                <a:solidFill>
                  <a:srgbClr val="ECECF1"/>
                </a:solidFill>
                <a:effectLst/>
                <a:latin typeface="KaTeX_Main"/>
              </a:rPr>
            </a:br>
            <a:endParaRPr lang="en-US" sz="2400" dirty="0"/>
          </a:p>
          <a:p>
            <a:pPr marL="0" indent="0">
              <a:buNone/>
            </a:pPr>
            <a:r>
              <a:rPr lang="en-US" sz="2400" dirty="0"/>
              <a:t>Note:</a:t>
            </a:r>
          </a:p>
        </p:txBody>
      </p:sp>
      <p:pic>
        <p:nvPicPr>
          <p:cNvPr id="11" name="Image 10">
            <a:extLst>
              <a:ext uri="{FF2B5EF4-FFF2-40B4-BE49-F238E27FC236}">
                <a16:creationId xmlns:a16="http://schemas.microsoft.com/office/drawing/2014/main" id="{223F7D79-13AC-FFDB-5105-835DF522D7A3}"/>
              </a:ext>
            </a:extLst>
          </p:cNvPr>
          <p:cNvPicPr>
            <a:picLocks noChangeAspect="1"/>
          </p:cNvPicPr>
          <p:nvPr/>
        </p:nvPicPr>
        <p:blipFill>
          <a:blip r:embed="rId3"/>
          <a:stretch>
            <a:fillRect/>
          </a:stretch>
        </p:blipFill>
        <p:spPr>
          <a:xfrm>
            <a:off x="5306646" y="1593597"/>
            <a:ext cx="2026596" cy="510095"/>
          </a:xfrm>
          <a:prstGeom prst="rect">
            <a:avLst/>
          </a:prstGeom>
        </p:spPr>
      </p:pic>
      <p:pic>
        <p:nvPicPr>
          <p:cNvPr id="13" name="Image 12">
            <a:extLst>
              <a:ext uri="{FF2B5EF4-FFF2-40B4-BE49-F238E27FC236}">
                <a16:creationId xmlns:a16="http://schemas.microsoft.com/office/drawing/2014/main" id="{88D2E472-E4E9-0ECC-0DBD-903CF89D9C4E}"/>
              </a:ext>
            </a:extLst>
          </p:cNvPr>
          <p:cNvPicPr>
            <a:picLocks noChangeAspect="1"/>
          </p:cNvPicPr>
          <p:nvPr/>
        </p:nvPicPr>
        <p:blipFill>
          <a:blip r:embed="rId4"/>
          <a:stretch>
            <a:fillRect/>
          </a:stretch>
        </p:blipFill>
        <p:spPr>
          <a:xfrm>
            <a:off x="4061963" y="2440077"/>
            <a:ext cx="1729890" cy="609653"/>
          </a:xfrm>
          <a:prstGeom prst="rect">
            <a:avLst/>
          </a:prstGeom>
        </p:spPr>
      </p:pic>
      <p:pic>
        <p:nvPicPr>
          <p:cNvPr id="17" name="Image 16">
            <a:extLst>
              <a:ext uri="{FF2B5EF4-FFF2-40B4-BE49-F238E27FC236}">
                <a16:creationId xmlns:a16="http://schemas.microsoft.com/office/drawing/2014/main" id="{69DE4448-7DE6-5929-DFBF-C90947FF2ACD}"/>
              </a:ext>
            </a:extLst>
          </p:cNvPr>
          <p:cNvPicPr>
            <a:picLocks noChangeAspect="1"/>
          </p:cNvPicPr>
          <p:nvPr/>
        </p:nvPicPr>
        <p:blipFill>
          <a:blip r:embed="rId5"/>
          <a:stretch>
            <a:fillRect/>
          </a:stretch>
        </p:blipFill>
        <p:spPr>
          <a:xfrm>
            <a:off x="4001478" y="3475753"/>
            <a:ext cx="1651774" cy="383111"/>
          </a:xfrm>
          <a:prstGeom prst="rect">
            <a:avLst/>
          </a:prstGeom>
        </p:spPr>
      </p:pic>
      <p:pic>
        <p:nvPicPr>
          <p:cNvPr id="24" name="Image 23">
            <a:extLst>
              <a:ext uri="{FF2B5EF4-FFF2-40B4-BE49-F238E27FC236}">
                <a16:creationId xmlns:a16="http://schemas.microsoft.com/office/drawing/2014/main" id="{FF51623C-364E-4020-080C-ECEB30AB7FF4}"/>
              </a:ext>
            </a:extLst>
          </p:cNvPr>
          <p:cNvPicPr>
            <a:picLocks noChangeAspect="1"/>
          </p:cNvPicPr>
          <p:nvPr/>
        </p:nvPicPr>
        <p:blipFill>
          <a:blip r:embed="rId6"/>
          <a:stretch>
            <a:fillRect/>
          </a:stretch>
        </p:blipFill>
        <p:spPr>
          <a:xfrm>
            <a:off x="1825609" y="5312103"/>
            <a:ext cx="2362405" cy="236240"/>
          </a:xfrm>
          <a:prstGeom prst="rect">
            <a:avLst/>
          </a:prstGeom>
        </p:spPr>
      </p:pic>
      <p:pic>
        <p:nvPicPr>
          <p:cNvPr id="26" name="Image 25">
            <a:extLst>
              <a:ext uri="{FF2B5EF4-FFF2-40B4-BE49-F238E27FC236}">
                <a16:creationId xmlns:a16="http://schemas.microsoft.com/office/drawing/2014/main" id="{05DB8A0F-F74E-86D1-E95D-3323EC0C0B6B}"/>
              </a:ext>
            </a:extLst>
          </p:cNvPr>
          <p:cNvPicPr>
            <a:picLocks noChangeAspect="1"/>
          </p:cNvPicPr>
          <p:nvPr/>
        </p:nvPicPr>
        <p:blipFill>
          <a:blip r:embed="rId7"/>
          <a:stretch>
            <a:fillRect/>
          </a:stretch>
        </p:blipFill>
        <p:spPr>
          <a:xfrm>
            <a:off x="1825609" y="5705879"/>
            <a:ext cx="1615580" cy="213378"/>
          </a:xfrm>
          <a:prstGeom prst="rect">
            <a:avLst/>
          </a:prstGeom>
        </p:spPr>
      </p:pic>
      <p:pic>
        <p:nvPicPr>
          <p:cNvPr id="28" name="Image 27">
            <a:extLst>
              <a:ext uri="{FF2B5EF4-FFF2-40B4-BE49-F238E27FC236}">
                <a16:creationId xmlns:a16="http://schemas.microsoft.com/office/drawing/2014/main" id="{C01C1F94-DE21-F5C3-9CBB-103821D2C43E}"/>
              </a:ext>
            </a:extLst>
          </p:cNvPr>
          <p:cNvPicPr>
            <a:picLocks noChangeAspect="1"/>
          </p:cNvPicPr>
          <p:nvPr/>
        </p:nvPicPr>
        <p:blipFill>
          <a:blip r:embed="rId8"/>
          <a:stretch>
            <a:fillRect/>
          </a:stretch>
        </p:blipFill>
        <p:spPr>
          <a:xfrm>
            <a:off x="3420542" y="5702950"/>
            <a:ext cx="925792" cy="216307"/>
          </a:xfrm>
          <a:prstGeom prst="rect">
            <a:avLst/>
          </a:prstGeom>
        </p:spPr>
      </p:pic>
      <p:pic>
        <p:nvPicPr>
          <p:cNvPr id="1028" name="Picture 4" descr="Figure">
            <a:extLst>
              <a:ext uri="{FF2B5EF4-FFF2-40B4-BE49-F238E27FC236}">
                <a16:creationId xmlns:a16="http://schemas.microsoft.com/office/drawing/2014/main" id="{7AF81BFE-E496-4E45-A550-094FAA08A83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91853" y="2601751"/>
            <a:ext cx="5188166" cy="389112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73194F7F-B49B-E794-6CEA-439AFADDFAC8}"/>
              </a:ext>
            </a:extLst>
          </p:cNvPr>
          <p:cNvSpPr/>
          <p:nvPr/>
        </p:nvSpPr>
        <p:spPr>
          <a:xfrm>
            <a:off x="540669" y="1074722"/>
            <a:ext cx="11247920" cy="1355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526724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982776-F1AB-50DB-04E0-74992D681748}"/>
              </a:ext>
            </a:extLst>
          </p:cNvPr>
          <p:cNvSpPr>
            <a:spLocks noGrp="1"/>
          </p:cNvSpPr>
          <p:nvPr>
            <p:ph type="title"/>
          </p:nvPr>
        </p:nvSpPr>
        <p:spPr>
          <a:xfrm>
            <a:off x="677821" y="151395"/>
            <a:ext cx="10515600" cy="843688"/>
          </a:xfrm>
        </p:spPr>
        <p:txBody>
          <a:bodyPr/>
          <a:lstStyle/>
          <a:p>
            <a:r>
              <a:rPr lang="fr-FR" dirty="0">
                <a:solidFill>
                  <a:srgbClr val="3333FF"/>
                </a:solidFill>
                <a:latin typeface="Cooper Black" panose="0208090404030B020404" pitchFamily="18" charset="0"/>
              </a:rPr>
              <a:t>Example:</a:t>
            </a:r>
            <a:endParaRPr lang="en-US" dirty="0">
              <a:solidFill>
                <a:srgbClr val="3333FF"/>
              </a:solidFill>
              <a:latin typeface="Cooper Black" panose="0208090404030B020404" pitchFamily="18" charset="0"/>
            </a:endParaRPr>
          </a:p>
        </p:txBody>
      </p:sp>
      <p:pic>
        <p:nvPicPr>
          <p:cNvPr id="4" name="Espace réservé du contenu 3">
            <a:extLst>
              <a:ext uri="{FF2B5EF4-FFF2-40B4-BE49-F238E27FC236}">
                <a16:creationId xmlns:a16="http://schemas.microsoft.com/office/drawing/2014/main" id="{7A431419-7139-E116-7555-BA1C3BBD6BAA}"/>
              </a:ext>
            </a:extLst>
          </p:cNvPr>
          <p:cNvPicPr>
            <a:picLocks noGrp="1" noChangeAspect="1"/>
          </p:cNvPicPr>
          <p:nvPr>
            <p:ph idx="1"/>
          </p:nvPr>
        </p:nvPicPr>
        <p:blipFill>
          <a:blip r:embed="rId3"/>
          <a:stretch>
            <a:fillRect/>
          </a:stretch>
        </p:blipFill>
        <p:spPr>
          <a:xfrm>
            <a:off x="350367" y="1794278"/>
            <a:ext cx="5250923" cy="3269443"/>
          </a:xfrm>
          <a:prstGeom prst="rect">
            <a:avLst/>
          </a:prstGeom>
        </p:spPr>
      </p:pic>
      <p:pic>
        <p:nvPicPr>
          <p:cNvPr id="7" name="Image 6">
            <a:extLst>
              <a:ext uri="{FF2B5EF4-FFF2-40B4-BE49-F238E27FC236}">
                <a16:creationId xmlns:a16="http://schemas.microsoft.com/office/drawing/2014/main" id="{5B5A7F9C-F8D3-B1A0-7260-EE8BE3D3E811}"/>
              </a:ext>
            </a:extLst>
          </p:cNvPr>
          <p:cNvPicPr>
            <a:picLocks noChangeAspect="1"/>
          </p:cNvPicPr>
          <p:nvPr/>
        </p:nvPicPr>
        <p:blipFill>
          <a:blip r:embed="rId4"/>
          <a:stretch>
            <a:fillRect/>
          </a:stretch>
        </p:blipFill>
        <p:spPr>
          <a:xfrm>
            <a:off x="350367" y="2145803"/>
            <a:ext cx="5250923" cy="2917918"/>
          </a:xfrm>
          <a:prstGeom prst="rect">
            <a:avLst/>
          </a:prstGeom>
        </p:spPr>
      </p:pic>
      <p:pic>
        <p:nvPicPr>
          <p:cNvPr id="11" name="Image 10">
            <a:extLst>
              <a:ext uri="{FF2B5EF4-FFF2-40B4-BE49-F238E27FC236}">
                <a16:creationId xmlns:a16="http://schemas.microsoft.com/office/drawing/2014/main" id="{6F61860A-7A26-3D95-5646-3B74A8EEBF33}"/>
              </a:ext>
            </a:extLst>
          </p:cNvPr>
          <p:cNvPicPr>
            <a:picLocks noChangeAspect="1"/>
          </p:cNvPicPr>
          <p:nvPr/>
        </p:nvPicPr>
        <p:blipFill>
          <a:blip r:embed="rId5"/>
          <a:stretch>
            <a:fillRect/>
          </a:stretch>
        </p:blipFill>
        <p:spPr>
          <a:xfrm>
            <a:off x="5935621" y="1091970"/>
            <a:ext cx="5906012" cy="3017782"/>
          </a:xfrm>
          <a:prstGeom prst="rect">
            <a:avLst/>
          </a:prstGeom>
        </p:spPr>
      </p:pic>
      <p:pic>
        <p:nvPicPr>
          <p:cNvPr id="13" name="Image 12">
            <a:extLst>
              <a:ext uri="{FF2B5EF4-FFF2-40B4-BE49-F238E27FC236}">
                <a16:creationId xmlns:a16="http://schemas.microsoft.com/office/drawing/2014/main" id="{5BF280B5-E44E-0C6E-7A4B-DADDE07230A4}"/>
              </a:ext>
            </a:extLst>
          </p:cNvPr>
          <p:cNvPicPr>
            <a:picLocks noChangeAspect="1"/>
          </p:cNvPicPr>
          <p:nvPr/>
        </p:nvPicPr>
        <p:blipFill>
          <a:blip r:embed="rId6"/>
          <a:stretch>
            <a:fillRect/>
          </a:stretch>
        </p:blipFill>
        <p:spPr>
          <a:xfrm>
            <a:off x="5935622" y="4121882"/>
            <a:ext cx="5906011" cy="2736118"/>
          </a:xfrm>
          <a:prstGeom prst="rect">
            <a:avLst/>
          </a:prstGeom>
        </p:spPr>
      </p:pic>
      <p:sp>
        <p:nvSpPr>
          <p:cNvPr id="3" name="Rectangle 2">
            <a:extLst>
              <a:ext uri="{FF2B5EF4-FFF2-40B4-BE49-F238E27FC236}">
                <a16:creationId xmlns:a16="http://schemas.microsoft.com/office/drawing/2014/main" id="{E48B67B0-D059-01F8-93D9-4F807394543A}"/>
              </a:ext>
            </a:extLst>
          </p:cNvPr>
          <p:cNvSpPr/>
          <p:nvPr/>
        </p:nvSpPr>
        <p:spPr>
          <a:xfrm>
            <a:off x="472040" y="871667"/>
            <a:ext cx="11247920" cy="1355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49114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C2AD87-7FA6-AED3-C2C1-37EFE8143E2E}"/>
              </a:ext>
            </a:extLst>
          </p:cNvPr>
          <p:cNvSpPr>
            <a:spLocks noGrp="1"/>
          </p:cNvSpPr>
          <p:nvPr>
            <p:ph type="title"/>
          </p:nvPr>
        </p:nvSpPr>
        <p:spPr>
          <a:xfrm>
            <a:off x="340660" y="334842"/>
            <a:ext cx="12407152" cy="676479"/>
          </a:xfrm>
        </p:spPr>
        <p:txBody>
          <a:bodyPr>
            <a:noAutofit/>
          </a:bodyPr>
          <a:lstStyle/>
          <a:p>
            <a:r>
              <a:rPr lang="fr-FR" sz="3600" dirty="0" err="1">
                <a:solidFill>
                  <a:srgbClr val="3333FF"/>
                </a:solidFill>
                <a:latin typeface="Cooper Black" panose="0208090404030B020404" pitchFamily="18" charset="0"/>
              </a:rPr>
              <a:t>Difference</a:t>
            </a:r>
            <a:r>
              <a:rPr lang="fr-FR" sz="3600" dirty="0">
                <a:solidFill>
                  <a:srgbClr val="3333FF"/>
                </a:solidFill>
                <a:latin typeface="Cooper Black" panose="0208090404030B020404" pitchFamily="18" charset="0"/>
              </a:rPr>
              <a:t> </a:t>
            </a:r>
            <a:r>
              <a:rPr lang="fr-FR" sz="3600" dirty="0" err="1">
                <a:solidFill>
                  <a:srgbClr val="3333FF"/>
                </a:solidFill>
                <a:latin typeface="Cooper Black" panose="0208090404030B020404" pitchFamily="18" charset="0"/>
              </a:rPr>
              <a:t>between</a:t>
            </a:r>
            <a:r>
              <a:rPr lang="fr-FR" sz="3600" dirty="0">
                <a:solidFill>
                  <a:srgbClr val="3333FF"/>
                </a:solidFill>
                <a:latin typeface="Cooper Black" panose="0208090404030B020404" pitchFamily="18" charset="0"/>
              </a:rPr>
              <a:t> </a:t>
            </a:r>
            <a:r>
              <a:rPr lang="fr-FR" sz="3600" dirty="0" err="1">
                <a:solidFill>
                  <a:srgbClr val="3333FF"/>
                </a:solidFill>
                <a:latin typeface="Cooper Black" panose="0208090404030B020404" pitchFamily="18" charset="0"/>
              </a:rPr>
              <a:t>linear</a:t>
            </a:r>
            <a:r>
              <a:rPr lang="fr-FR" sz="3600" dirty="0">
                <a:solidFill>
                  <a:srgbClr val="3333FF"/>
                </a:solidFill>
                <a:latin typeface="Cooper Black" panose="0208090404030B020404" pitchFamily="18" charset="0"/>
              </a:rPr>
              <a:t> and </a:t>
            </a:r>
            <a:r>
              <a:rPr lang="fr-FR" sz="3600" dirty="0" err="1">
                <a:solidFill>
                  <a:srgbClr val="3333FF"/>
                </a:solidFill>
                <a:latin typeface="Cooper Black" panose="0208090404030B020404" pitchFamily="18" charset="0"/>
              </a:rPr>
              <a:t>logistic</a:t>
            </a:r>
            <a:r>
              <a:rPr lang="fr-FR" sz="3600" dirty="0">
                <a:solidFill>
                  <a:srgbClr val="3333FF"/>
                </a:solidFill>
                <a:latin typeface="Cooper Black" panose="0208090404030B020404" pitchFamily="18" charset="0"/>
              </a:rPr>
              <a:t> </a:t>
            </a:r>
            <a:r>
              <a:rPr lang="fr-FR" sz="3600" dirty="0" err="1">
                <a:solidFill>
                  <a:srgbClr val="3333FF"/>
                </a:solidFill>
                <a:latin typeface="Cooper Black" panose="0208090404030B020404" pitchFamily="18" charset="0"/>
              </a:rPr>
              <a:t>regression</a:t>
            </a:r>
            <a:endParaRPr lang="en-US" sz="3600" dirty="0">
              <a:solidFill>
                <a:srgbClr val="3333FF"/>
              </a:solidFill>
              <a:latin typeface="Cooper Black" panose="0208090404030B020404" pitchFamily="18" charset="0"/>
            </a:endParaRPr>
          </a:p>
        </p:txBody>
      </p:sp>
      <p:pic>
        <p:nvPicPr>
          <p:cNvPr id="2050" name="Picture 2" descr="Animations of Logistic Regression with Python | by Tobias Roeschl | Towards  Data Science">
            <a:extLst>
              <a:ext uri="{FF2B5EF4-FFF2-40B4-BE49-F238E27FC236}">
                <a16:creationId xmlns:a16="http://schemas.microsoft.com/office/drawing/2014/main" id="{061BA6B1-E9AB-D6D0-F1A4-DD9C8FD9D92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02356" y="1690688"/>
            <a:ext cx="4351338" cy="435133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Linear Regression from Scratch in Python :: Mubaris">
            <a:extLst>
              <a:ext uri="{FF2B5EF4-FFF2-40B4-BE49-F238E27FC236}">
                <a16:creationId xmlns:a16="http://schemas.microsoft.com/office/drawing/2014/main" id="{E31275C0-F7AF-C58D-B69B-FE927EB6AD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4729" y="3556685"/>
            <a:ext cx="3410465" cy="2557849"/>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Linear Regression with NumPy · Davi Frossard">
            <a:extLst>
              <a:ext uri="{FF2B5EF4-FFF2-40B4-BE49-F238E27FC236}">
                <a16:creationId xmlns:a16="http://schemas.microsoft.com/office/drawing/2014/main" id="{4C764394-52B9-FED9-6178-4CC14A89BED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3298" y="1442650"/>
            <a:ext cx="2818714" cy="2114035"/>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a:extLst>
              <a:ext uri="{FF2B5EF4-FFF2-40B4-BE49-F238E27FC236}">
                <a16:creationId xmlns:a16="http://schemas.microsoft.com/office/drawing/2014/main" id="{1730B724-5560-4694-4095-6F256A01823A}"/>
              </a:ext>
            </a:extLst>
          </p:cNvPr>
          <p:cNvSpPr/>
          <p:nvPr/>
        </p:nvSpPr>
        <p:spPr>
          <a:xfrm>
            <a:off x="472040" y="979802"/>
            <a:ext cx="11247920" cy="1355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ZoneTexte 6">
            <a:extLst>
              <a:ext uri="{FF2B5EF4-FFF2-40B4-BE49-F238E27FC236}">
                <a16:creationId xmlns:a16="http://schemas.microsoft.com/office/drawing/2014/main" id="{9FA5BC8A-7E38-1CE6-96BF-08E8174A0C50}"/>
              </a:ext>
            </a:extLst>
          </p:cNvPr>
          <p:cNvSpPr txBox="1"/>
          <p:nvPr/>
        </p:nvSpPr>
        <p:spPr>
          <a:xfrm>
            <a:off x="8166514" y="1400196"/>
            <a:ext cx="3819297" cy="4801314"/>
          </a:xfrm>
          <a:prstGeom prst="rect">
            <a:avLst/>
          </a:prstGeom>
          <a:noFill/>
        </p:spPr>
        <p:txBody>
          <a:bodyPr wrap="square">
            <a:spAutoFit/>
          </a:bodyPr>
          <a:lstStyle/>
          <a:p>
            <a:pPr algn="l">
              <a:buFont typeface="+mj-lt"/>
              <a:buAutoNum type="arabicPeriod"/>
            </a:pPr>
            <a:r>
              <a:rPr lang="en-US" b="1" i="0" dirty="0">
                <a:effectLst/>
                <a:latin typeface="Söhne"/>
              </a:rPr>
              <a:t>Output Type:</a:t>
            </a:r>
            <a:endParaRPr lang="en-US" b="0" i="0" dirty="0">
              <a:effectLst/>
              <a:latin typeface="Söhne"/>
            </a:endParaRPr>
          </a:p>
          <a:p>
            <a:pPr lvl="1" algn="l"/>
            <a:r>
              <a:rPr lang="en-US" b="0" i="0" dirty="0">
                <a:effectLst/>
                <a:latin typeface="Söhne"/>
              </a:rPr>
              <a:t>Linear regression predicts a continuous numerical output, while logistic regression predicts the probability of an observation belonging to a particular category, yielding a binary (0 or 1) outcome.</a:t>
            </a:r>
          </a:p>
          <a:p>
            <a:pPr algn="l">
              <a:buFont typeface="+mj-lt"/>
              <a:buAutoNum type="arabicPeriod"/>
            </a:pPr>
            <a:r>
              <a:rPr lang="en-US" b="1" i="0" dirty="0">
                <a:effectLst/>
                <a:latin typeface="Söhne"/>
              </a:rPr>
              <a:t>Use Case:</a:t>
            </a:r>
            <a:endParaRPr lang="en-US" b="0" i="0" dirty="0">
              <a:effectLst/>
              <a:latin typeface="Söhne"/>
            </a:endParaRPr>
          </a:p>
          <a:p>
            <a:pPr lvl="1" algn="l"/>
            <a:r>
              <a:rPr lang="en-US" b="0" i="0" dirty="0">
                <a:effectLst/>
                <a:latin typeface="Söhne"/>
              </a:rPr>
              <a:t>Linear regression is suitable for regression tasks, modeling relationships between variables, whereas logistic regression is used for binary classification tasks, predicting the likelihood of an observation falling into one of two classes</a:t>
            </a:r>
          </a:p>
        </p:txBody>
      </p:sp>
    </p:spTree>
    <p:extLst>
      <p:ext uri="{BB962C8B-B14F-4D97-AF65-F5344CB8AC3E}">
        <p14:creationId xmlns:p14="http://schemas.microsoft.com/office/powerpoint/2010/main" val="2313105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6C4903C-D6E5-8EAB-7718-873592476030}"/>
              </a:ext>
            </a:extLst>
          </p:cNvPr>
          <p:cNvSpPr>
            <a:spLocks noGrp="1"/>
          </p:cNvSpPr>
          <p:nvPr>
            <p:ph type="title"/>
          </p:nvPr>
        </p:nvSpPr>
        <p:spPr>
          <a:xfrm>
            <a:off x="552801" y="203761"/>
            <a:ext cx="10515600" cy="1325563"/>
          </a:xfrm>
        </p:spPr>
        <p:txBody>
          <a:bodyPr/>
          <a:lstStyle/>
          <a:p>
            <a:r>
              <a:rPr lang="fr-FR" dirty="0">
                <a:solidFill>
                  <a:srgbClr val="3333FF"/>
                </a:solidFill>
                <a:latin typeface="Cooper Black" panose="0208090404030B020404" pitchFamily="18" charset="0"/>
              </a:rPr>
              <a:t>Coding part:</a:t>
            </a:r>
            <a:endParaRPr lang="en-US" dirty="0">
              <a:solidFill>
                <a:srgbClr val="3333FF"/>
              </a:solidFill>
              <a:latin typeface="Cooper Black" panose="0208090404030B020404" pitchFamily="18" charset="0"/>
            </a:endParaRPr>
          </a:p>
        </p:txBody>
      </p:sp>
      <p:pic>
        <p:nvPicPr>
          <p:cNvPr id="16" name="Image 15">
            <a:extLst>
              <a:ext uri="{FF2B5EF4-FFF2-40B4-BE49-F238E27FC236}">
                <a16:creationId xmlns:a16="http://schemas.microsoft.com/office/drawing/2014/main" id="{80BA240F-86D8-F13D-8084-8D9549C296E3}"/>
              </a:ext>
            </a:extLst>
          </p:cNvPr>
          <p:cNvPicPr>
            <a:picLocks noChangeAspect="1"/>
          </p:cNvPicPr>
          <p:nvPr/>
        </p:nvPicPr>
        <p:blipFill>
          <a:blip r:embed="rId3"/>
          <a:stretch>
            <a:fillRect/>
          </a:stretch>
        </p:blipFill>
        <p:spPr>
          <a:xfrm>
            <a:off x="552801" y="1762788"/>
            <a:ext cx="10800999" cy="2083644"/>
          </a:xfrm>
          <a:prstGeom prst="rect">
            <a:avLst/>
          </a:prstGeom>
        </p:spPr>
      </p:pic>
      <p:pic>
        <p:nvPicPr>
          <p:cNvPr id="22" name="Image 21">
            <a:extLst>
              <a:ext uri="{FF2B5EF4-FFF2-40B4-BE49-F238E27FC236}">
                <a16:creationId xmlns:a16="http://schemas.microsoft.com/office/drawing/2014/main" id="{D9C6C347-EF89-3F33-6308-995F5A56036E}"/>
              </a:ext>
            </a:extLst>
          </p:cNvPr>
          <p:cNvPicPr>
            <a:picLocks noChangeAspect="1"/>
          </p:cNvPicPr>
          <p:nvPr/>
        </p:nvPicPr>
        <p:blipFill>
          <a:blip r:embed="rId4"/>
          <a:stretch>
            <a:fillRect/>
          </a:stretch>
        </p:blipFill>
        <p:spPr>
          <a:xfrm>
            <a:off x="552801" y="4178126"/>
            <a:ext cx="6911939" cy="426757"/>
          </a:xfrm>
          <a:prstGeom prst="rect">
            <a:avLst/>
          </a:prstGeom>
        </p:spPr>
      </p:pic>
      <p:pic>
        <p:nvPicPr>
          <p:cNvPr id="24" name="Image 23">
            <a:extLst>
              <a:ext uri="{FF2B5EF4-FFF2-40B4-BE49-F238E27FC236}">
                <a16:creationId xmlns:a16="http://schemas.microsoft.com/office/drawing/2014/main" id="{CAF74BB3-B8FF-905B-1A40-99A738049C52}"/>
              </a:ext>
            </a:extLst>
          </p:cNvPr>
          <p:cNvPicPr>
            <a:picLocks noChangeAspect="1"/>
          </p:cNvPicPr>
          <p:nvPr/>
        </p:nvPicPr>
        <p:blipFill>
          <a:blip r:embed="rId5"/>
          <a:stretch>
            <a:fillRect/>
          </a:stretch>
        </p:blipFill>
        <p:spPr>
          <a:xfrm>
            <a:off x="615554" y="4936577"/>
            <a:ext cx="3985605" cy="777307"/>
          </a:xfrm>
          <a:prstGeom prst="rect">
            <a:avLst/>
          </a:prstGeom>
        </p:spPr>
      </p:pic>
      <p:sp>
        <p:nvSpPr>
          <p:cNvPr id="5" name="Rectangle 4">
            <a:extLst>
              <a:ext uri="{FF2B5EF4-FFF2-40B4-BE49-F238E27FC236}">
                <a16:creationId xmlns:a16="http://schemas.microsoft.com/office/drawing/2014/main" id="{369DDB80-BB6C-6D0D-7571-FF93E846C751}"/>
              </a:ext>
            </a:extLst>
          </p:cNvPr>
          <p:cNvSpPr/>
          <p:nvPr/>
        </p:nvSpPr>
        <p:spPr>
          <a:xfrm>
            <a:off x="472040" y="1158786"/>
            <a:ext cx="11247920" cy="13554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076787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ce réservé du contenu 2">
            <a:extLst>
              <a:ext uri="{FF2B5EF4-FFF2-40B4-BE49-F238E27FC236}">
                <a16:creationId xmlns:a16="http://schemas.microsoft.com/office/drawing/2014/main" id="{8DFD30D1-D225-3E46-81C4-944BC4E087DC}"/>
              </a:ext>
            </a:extLst>
          </p:cNvPr>
          <p:cNvSpPr>
            <a:spLocks noGrp="1"/>
          </p:cNvSpPr>
          <p:nvPr>
            <p:ph idx="1"/>
          </p:nvPr>
        </p:nvSpPr>
        <p:spPr>
          <a:xfrm>
            <a:off x="10233498" y="5029199"/>
            <a:ext cx="1120302" cy="1147763"/>
          </a:xfrm>
        </p:spPr>
        <p:txBody>
          <a:bodyPr/>
          <a:lstStyle/>
          <a:p>
            <a:r>
              <a:rPr lang="fr-FR" dirty="0"/>
              <a:t>  </a:t>
            </a:r>
            <a:endParaRPr lang="en-US" dirty="0"/>
          </a:p>
        </p:txBody>
      </p:sp>
      <p:pic>
        <p:nvPicPr>
          <p:cNvPr id="11" name="Image 10">
            <a:extLst>
              <a:ext uri="{FF2B5EF4-FFF2-40B4-BE49-F238E27FC236}">
                <a16:creationId xmlns:a16="http://schemas.microsoft.com/office/drawing/2014/main" id="{BF1CC6B7-1037-C661-973E-C7ED8B8606BF}"/>
              </a:ext>
            </a:extLst>
          </p:cNvPr>
          <p:cNvPicPr>
            <a:picLocks noChangeAspect="1"/>
          </p:cNvPicPr>
          <p:nvPr/>
        </p:nvPicPr>
        <p:blipFill>
          <a:blip r:embed="rId2"/>
          <a:stretch>
            <a:fillRect/>
          </a:stretch>
        </p:blipFill>
        <p:spPr>
          <a:xfrm>
            <a:off x="688785" y="3266002"/>
            <a:ext cx="9678239" cy="3254022"/>
          </a:xfrm>
          <a:prstGeom prst="rect">
            <a:avLst/>
          </a:prstGeom>
        </p:spPr>
      </p:pic>
      <p:pic>
        <p:nvPicPr>
          <p:cNvPr id="4" name="Image 3">
            <a:extLst>
              <a:ext uri="{FF2B5EF4-FFF2-40B4-BE49-F238E27FC236}">
                <a16:creationId xmlns:a16="http://schemas.microsoft.com/office/drawing/2014/main" id="{95E7CC73-9EF2-BB30-A047-5E273A8092DD}"/>
              </a:ext>
            </a:extLst>
          </p:cNvPr>
          <p:cNvPicPr>
            <a:picLocks noChangeAspect="1"/>
          </p:cNvPicPr>
          <p:nvPr/>
        </p:nvPicPr>
        <p:blipFill>
          <a:blip r:embed="rId3"/>
          <a:stretch>
            <a:fillRect/>
          </a:stretch>
        </p:blipFill>
        <p:spPr>
          <a:xfrm>
            <a:off x="631649" y="337976"/>
            <a:ext cx="9437832" cy="2923222"/>
          </a:xfrm>
          <a:prstGeom prst="rect">
            <a:avLst/>
          </a:prstGeom>
        </p:spPr>
      </p:pic>
    </p:spTree>
    <p:extLst>
      <p:ext uri="{BB962C8B-B14F-4D97-AF65-F5344CB8AC3E}">
        <p14:creationId xmlns:p14="http://schemas.microsoft.com/office/powerpoint/2010/main" val="2278246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332DE240-3FE8-7EAD-A53F-005748E6984D}"/>
              </a:ext>
            </a:extLst>
          </p:cNvPr>
          <p:cNvPicPr>
            <a:picLocks noChangeAspect="1"/>
          </p:cNvPicPr>
          <p:nvPr/>
        </p:nvPicPr>
        <p:blipFill>
          <a:blip r:embed="rId3"/>
          <a:stretch>
            <a:fillRect/>
          </a:stretch>
        </p:blipFill>
        <p:spPr>
          <a:xfrm>
            <a:off x="1190747" y="802000"/>
            <a:ext cx="7475868" cy="723963"/>
          </a:xfrm>
          <a:prstGeom prst="rect">
            <a:avLst/>
          </a:prstGeom>
        </p:spPr>
      </p:pic>
      <p:pic>
        <p:nvPicPr>
          <p:cNvPr id="9" name="Image 8">
            <a:extLst>
              <a:ext uri="{FF2B5EF4-FFF2-40B4-BE49-F238E27FC236}">
                <a16:creationId xmlns:a16="http://schemas.microsoft.com/office/drawing/2014/main" id="{206F887A-66B4-B0BB-0D20-1DF2CAC3EB39}"/>
              </a:ext>
            </a:extLst>
          </p:cNvPr>
          <p:cNvPicPr>
            <a:picLocks noChangeAspect="1"/>
          </p:cNvPicPr>
          <p:nvPr/>
        </p:nvPicPr>
        <p:blipFill>
          <a:blip r:embed="rId4"/>
          <a:stretch>
            <a:fillRect/>
          </a:stretch>
        </p:blipFill>
        <p:spPr>
          <a:xfrm>
            <a:off x="1040471" y="3023657"/>
            <a:ext cx="4571841" cy="3032343"/>
          </a:xfrm>
          <a:prstGeom prst="rect">
            <a:avLst/>
          </a:prstGeom>
        </p:spPr>
      </p:pic>
      <p:pic>
        <p:nvPicPr>
          <p:cNvPr id="11" name="Image 10">
            <a:extLst>
              <a:ext uri="{FF2B5EF4-FFF2-40B4-BE49-F238E27FC236}">
                <a16:creationId xmlns:a16="http://schemas.microsoft.com/office/drawing/2014/main" id="{1EC8D73A-00B3-B051-B748-310F65FBECA2}"/>
              </a:ext>
            </a:extLst>
          </p:cNvPr>
          <p:cNvPicPr>
            <a:picLocks noChangeAspect="1"/>
          </p:cNvPicPr>
          <p:nvPr/>
        </p:nvPicPr>
        <p:blipFill>
          <a:blip r:embed="rId5"/>
          <a:stretch>
            <a:fillRect/>
          </a:stretch>
        </p:blipFill>
        <p:spPr>
          <a:xfrm>
            <a:off x="1283969" y="1737553"/>
            <a:ext cx="3787468" cy="1074513"/>
          </a:xfrm>
          <a:prstGeom prst="rect">
            <a:avLst/>
          </a:prstGeom>
        </p:spPr>
      </p:pic>
    </p:spTree>
    <p:extLst>
      <p:ext uri="{BB962C8B-B14F-4D97-AF65-F5344CB8AC3E}">
        <p14:creationId xmlns:p14="http://schemas.microsoft.com/office/powerpoint/2010/main" val="26706784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 6">
            <a:extLst>
              <a:ext uri="{FF2B5EF4-FFF2-40B4-BE49-F238E27FC236}">
                <a16:creationId xmlns:a16="http://schemas.microsoft.com/office/drawing/2014/main" id="{2DC80B04-FA94-AEEF-D7B1-193BEAE0093F}"/>
              </a:ext>
            </a:extLst>
          </p:cNvPr>
          <p:cNvPicPr>
            <a:picLocks noChangeAspect="1"/>
          </p:cNvPicPr>
          <p:nvPr/>
        </p:nvPicPr>
        <p:blipFill>
          <a:blip r:embed="rId3"/>
          <a:stretch>
            <a:fillRect/>
          </a:stretch>
        </p:blipFill>
        <p:spPr>
          <a:xfrm>
            <a:off x="1268703" y="2949261"/>
            <a:ext cx="6223147" cy="3615234"/>
          </a:xfrm>
          <a:prstGeom prst="rect">
            <a:avLst/>
          </a:prstGeom>
        </p:spPr>
      </p:pic>
      <p:sp>
        <p:nvSpPr>
          <p:cNvPr id="9" name="ZoneTexte 8">
            <a:extLst>
              <a:ext uri="{FF2B5EF4-FFF2-40B4-BE49-F238E27FC236}">
                <a16:creationId xmlns:a16="http://schemas.microsoft.com/office/drawing/2014/main" id="{27BD2815-DD71-F192-91D7-EFC36C6E3EF3}"/>
              </a:ext>
            </a:extLst>
          </p:cNvPr>
          <p:cNvSpPr txBox="1"/>
          <p:nvPr/>
        </p:nvSpPr>
        <p:spPr>
          <a:xfrm>
            <a:off x="523587" y="578969"/>
            <a:ext cx="11532973" cy="646331"/>
          </a:xfrm>
          <a:prstGeom prst="rect">
            <a:avLst/>
          </a:prstGeom>
          <a:noFill/>
        </p:spPr>
        <p:txBody>
          <a:bodyPr wrap="square">
            <a:spAutoFit/>
          </a:bodyPr>
          <a:lstStyle/>
          <a:p>
            <a:r>
              <a:rPr lang="en-US" b="0" i="0" dirty="0">
                <a:solidFill>
                  <a:srgbClr val="111111"/>
                </a:solidFill>
                <a:effectLst/>
                <a:latin typeface="open sans" panose="020B0606030504020204" pitchFamily="34" charset="0"/>
              </a:rPr>
              <a:t>Let’s check the average max temperature and once we plot it we can observe that the Average Maximum Temperature is Between Nearly 25 and 35.</a:t>
            </a:r>
            <a:endParaRPr lang="en-US" dirty="0"/>
          </a:p>
        </p:txBody>
      </p:sp>
      <p:pic>
        <p:nvPicPr>
          <p:cNvPr id="11" name="Image 10">
            <a:extLst>
              <a:ext uri="{FF2B5EF4-FFF2-40B4-BE49-F238E27FC236}">
                <a16:creationId xmlns:a16="http://schemas.microsoft.com/office/drawing/2014/main" id="{3B6B6B65-7812-CEF6-EBAC-959219D3A2A5}"/>
              </a:ext>
            </a:extLst>
          </p:cNvPr>
          <p:cNvPicPr>
            <a:picLocks noChangeAspect="1"/>
          </p:cNvPicPr>
          <p:nvPr/>
        </p:nvPicPr>
        <p:blipFill>
          <a:blip r:embed="rId4"/>
          <a:stretch>
            <a:fillRect/>
          </a:stretch>
        </p:blipFill>
        <p:spPr>
          <a:xfrm>
            <a:off x="830352" y="1756295"/>
            <a:ext cx="3391194" cy="777307"/>
          </a:xfrm>
          <a:prstGeom prst="rect">
            <a:avLst/>
          </a:prstGeom>
        </p:spPr>
      </p:pic>
    </p:spTree>
    <p:extLst>
      <p:ext uri="{BB962C8B-B14F-4D97-AF65-F5344CB8AC3E}">
        <p14:creationId xmlns:p14="http://schemas.microsoft.com/office/powerpoint/2010/main" val="24071918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45A743FF-9F91-6095-0A93-2DA2010428CC}"/>
              </a:ext>
            </a:extLst>
          </p:cNvPr>
          <p:cNvPicPr>
            <a:picLocks noChangeAspect="1"/>
          </p:cNvPicPr>
          <p:nvPr/>
        </p:nvPicPr>
        <p:blipFill>
          <a:blip r:embed="rId2"/>
          <a:stretch>
            <a:fillRect/>
          </a:stretch>
        </p:blipFill>
        <p:spPr>
          <a:xfrm>
            <a:off x="1055654" y="706274"/>
            <a:ext cx="5319221" cy="403895"/>
          </a:xfrm>
          <a:prstGeom prst="rect">
            <a:avLst/>
          </a:prstGeom>
        </p:spPr>
      </p:pic>
      <p:pic>
        <p:nvPicPr>
          <p:cNvPr id="9" name="Image 8">
            <a:extLst>
              <a:ext uri="{FF2B5EF4-FFF2-40B4-BE49-F238E27FC236}">
                <a16:creationId xmlns:a16="http://schemas.microsoft.com/office/drawing/2014/main" id="{F01A1BB6-2861-B998-B865-73B61C517A34}"/>
              </a:ext>
            </a:extLst>
          </p:cNvPr>
          <p:cNvPicPr>
            <a:picLocks noChangeAspect="1"/>
          </p:cNvPicPr>
          <p:nvPr/>
        </p:nvPicPr>
        <p:blipFill>
          <a:blip r:embed="rId3"/>
          <a:stretch>
            <a:fillRect/>
          </a:stretch>
        </p:blipFill>
        <p:spPr>
          <a:xfrm>
            <a:off x="1055654" y="2225525"/>
            <a:ext cx="7163421" cy="693480"/>
          </a:xfrm>
          <a:prstGeom prst="rect">
            <a:avLst/>
          </a:prstGeom>
        </p:spPr>
      </p:pic>
      <p:pic>
        <p:nvPicPr>
          <p:cNvPr id="27" name="Image 26">
            <a:extLst>
              <a:ext uri="{FF2B5EF4-FFF2-40B4-BE49-F238E27FC236}">
                <a16:creationId xmlns:a16="http://schemas.microsoft.com/office/drawing/2014/main" id="{C5993AF2-6C8B-8103-8795-CAF41DBA9EE6}"/>
              </a:ext>
            </a:extLst>
          </p:cNvPr>
          <p:cNvPicPr>
            <a:picLocks noChangeAspect="1"/>
          </p:cNvPicPr>
          <p:nvPr/>
        </p:nvPicPr>
        <p:blipFill>
          <a:blip r:embed="rId4"/>
          <a:stretch>
            <a:fillRect/>
          </a:stretch>
        </p:blipFill>
        <p:spPr>
          <a:xfrm>
            <a:off x="1341833" y="1185894"/>
            <a:ext cx="3711262" cy="624894"/>
          </a:xfrm>
          <a:prstGeom prst="rect">
            <a:avLst/>
          </a:prstGeom>
        </p:spPr>
      </p:pic>
      <p:pic>
        <p:nvPicPr>
          <p:cNvPr id="29" name="Image 28">
            <a:extLst>
              <a:ext uri="{FF2B5EF4-FFF2-40B4-BE49-F238E27FC236}">
                <a16:creationId xmlns:a16="http://schemas.microsoft.com/office/drawing/2014/main" id="{5C641CA9-1463-2F3E-6728-9017F07498AC}"/>
              </a:ext>
            </a:extLst>
          </p:cNvPr>
          <p:cNvPicPr>
            <a:picLocks noChangeAspect="1"/>
          </p:cNvPicPr>
          <p:nvPr/>
        </p:nvPicPr>
        <p:blipFill>
          <a:blip r:embed="rId5"/>
          <a:stretch>
            <a:fillRect/>
          </a:stretch>
        </p:blipFill>
        <p:spPr>
          <a:xfrm>
            <a:off x="1217943" y="3135604"/>
            <a:ext cx="6729043" cy="586791"/>
          </a:xfrm>
          <a:prstGeom prst="rect">
            <a:avLst/>
          </a:prstGeom>
        </p:spPr>
      </p:pic>
      <p:pic>
        <p:nvPicPr>
          <p:cNvPr id="31" name="Image 30">
            <a:extLst>
              <a:ext uri="{FF2B5EF4-FFF2-40B4-BE49-F238E27FC236}">
                <a16:creationId xmlns:a16="http://schemas.microsoft.com/office/drawing/2014/main" id="{003CC5E5-83A5-AE40-2297-2308E75E1025}"/>
              </a:ext>
            </a:extLst>
          </p:cNvPr>
          <p:cNvPicPr>
            <a:picLocks noChangeAspect="1"/>
          </p:cNvPicPr>
          <p:nvPr/>
        </p:nvPicPr>
        <p:blipFill>
          <a:blip r:embed="rId6"/>
          <a:stretch>
            <a:fillRect/>
          </a:stretch>
        </p:blipFill>
        <p:spPr>
          <a:xfrm>
            <a:off x="1217943" y="4921471"/>
            <a:ext cx="2728196" cy="1501270"/>
          </a:xfrm>
          <a:prstGeom prst="rect">
            <a:avLst/>
          </a:prstGeom>
        </p:spPr>
      </p:pic>
      <p:sp>
        <p:nvSpPr>
          <p:cNvPr id="33" name="ZoneTexte 32">
            <a:extLst>
              <a:ext uri="{FF2B5EF4-FFF2-40B4-BE49-F238E27FC236}">
                <a16:creationId xmlns:a16="http://schemas.microsoft.com/office/drawing/2014/main" id="{317F6003-736C-DAD0-0C90-6EC48E0E2923}"/>
              </a:ext>
            </a:extLst>
          </p:cNvPr>
          <p:cNvSpPr txBox="1"/>
          <p:nvPr/>
        </p:nvSpPr>
        <p:spPr>
          <a:xfrm>
            <a:off x="1055654" y="4339214"/>
            <a:ext cx="6096000" cy="338554"/>
          </a:xfrm>
          <a:prstGeom prst="rect">
            <a:avLst/>
          </a:prstGeom>
          <a:noFill/>
        </p:spPr>
        <p:txBody>
          <a:bodyPr wrap="square">
            <a:spAutoFit/>
          </a:bodyPr>
          <a:lstStyle/>
          <a:p>
            <a:r>
              <a:rPr lang="en-US" sz="1600" b="0" i="0" dirty="0">
                <a:solidFill>
                  <a:srgbClr val="111111"/>
                </a:solidFill>
                <a:effectLst/>
                <a:latin typeface="open sans" panose="020B0606030504020204" pitchFamily="34" charset="0"/>
              </a:rPr>
              <a:t>This is the time to train our algorithm. </a:t>
            </a:r>
            <a:endParaRPr lang="en-US" sz="1600" dirty="0"/>
          </a:p>
        </p:txBody>
      </p:sp>
    </p:spTree>
    <p:extLst>
      <p:ext uri="{BB962C8B-B14F-4D97-AF65-F5344CB8AC3E}">
        <p14:creationId xmlns:p14="http://schemas.microsoft.com/office/powerpoint/2010/main" val="50399173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FC546932-CAAA-9086-C1A5-18ABD5BE95FA}"/>
              </a:ext>
            </a:extLst>
          </p:cNvPr>
          <p:cNvSpPr txBox="1"/>
          <p:nvPr/>
        </p:nvSpPr>
        <p:spPr>
          <a:xfrm>
            <a:off x="420942" y="688399"/>
            <a:ext cx="10658949" cy="646331"/>
          </a:xfrm>
          <a:prstGeom prst="rect">
            <a:avLst/>
          </a:prstGeom>
          <a:noFill/>
        </p:spPr>
        <p:txBody>
          <a:bodyPr wrap="square">
            <a:spAutoFit/>
          </a:bodyPr>
          <a:lstStyle/>
          <a:p>
            <a:r>
              <a:rPr lang="en-US" b="0" i="0" dirty="0">
                <a:solidFill>
                  <a:srgbClr val="111111"/>
                </a:solidFill>
                <a:effectLst/>
                <a:latin typeface="open sans" panose="020B0606030504020204" pitchFamily="34" charset="0"/>
              </a:rPr>
              <a:t>As we have discussed that the linear regression model basically finds the best value for the intercept and slope, which results in a line that best fits the data</a:t>
            </a:r>
            <a:endParaRPr lang="en-US" dirty="0"/>
          </a:p>
        </p:txBody>
      </p:sp>
      <p:pic>
        <p:nvPicPr>
          <p:cNvPr id="9" name="Image 8">
            <a:extLst>
              <a:ext uri="{FF2B5EF4-FFF2-40B4-BE49-F238E27FC236}">
                <a16:creationId xmlns:a16="http://schemas.microsoft.com/office/drawing/2014/main" id="{8BB9E766-27F0-FC79-E3F7-534C7F11CE08}"/>
              </a:ext>
            </a:extLst>
          </p:cNvPr>
          <p:cNvPicPr>
            <a:picLocks noChangeAspect="1"/>
          </p:cNvPicPr>
          <p:nvPr/>
        </p:nvPicPr>
        <p:blipFill>
          <a:blip r:embed="rId2"/>
          <a:stretch>
            <a:fillRect/>
          </a:stretch>
        </p:blipFill>
        <p:spPr>
          <a:xfrm>
            <a:off x="766932" y="1513318"/>
            <a:ext cx="4229467" cy="1295512"/>
          </a:xfrm>
          <a:prstGeom prst="rect">
            <a:avLst/>
          </a:prstGeom>
        </p:spPr>
      </p:pic>
      <p:sp>
        <p:nvSpPr>
          <p:cNvPr id="13" name="ZoneTexte 12">
            <a:extLst>
              <a:ext uri="{FF2B5EF4-FFF2-40B4-BE49-F238E27FC236}">
                <a16:creationId xmlns:a16="http://schemas.microsoft.com/office/drawing/2014/main" id="{F4E300E2-DC95-6CB0-96B9-E9C075B07631}"/>
              </a:ext>
            </a:extLst>
          </p:cNvPr>
          <p:cNvSpPr txBox="1"/>
          <p:nvPr/>
        </p:nvSpPr>
        <p:spPr>
          <a:xfrm>
            <a:off x="559362" y="2987418"/>
            <a:ext cx="9704984" cy="369332"/>
          </a:xfrm>
          <a:prstGeom prst="rect">
            <a:avLst/>
          </a:prstGeom>
          <a:noFill/>
        </p:spPr>
        <p:txBody>
          <a:bodyPr wrap="square">
            <a:spAutoFit/>
          </a:bodyPr>
          <a:lstStyle/>
          <a:p>
            <a:r>
              <a:rPr lang="en-US" b="0" i="0" dirty="0">
                <a:solidFill>
                  <a:srgbClr val="111111"/>
                </a:solidFill>
                <a:effectLst/>
                <a:latin typeface="open sans" panose="020B0606030504020204" pitchFamily="34" charset="0"/>
              </a:rPr>
              <a:t>Now that we have trained our algorithm, it’s time to make some predictions.</a:t>
            </a:r>
            <a:endParaRPr lang="en-US" dirty="0"/>
          </a:p>
        </p:txBody>
      </p:sp>
      <p:pic>
        <p:nvPicPr>
          <p:cNvPr id="17" name="Image 16">
            <a:extLst>
              <a:ext uri="{FF2B5EF4-FFF2-40B4-BE49-F238E27FC236}">
                <a16:creationId xmlns:a16="http://schemas.microsoft.com/office/drawing/2014/main" id="{3989EE28-EBC1-DDBA-17FA-31C93E113A4F}"/>
              </a:ext>
            </a:extLst>
          </p:cNvPr>
          <p:cNvPicPr>
            <a:picLocks noChangeAspect="1"/>
          </p:cNvPicPr>
          <p:nvPr/>
        </p:nvPicPr>
        <p:blipFill>
          <a:blip r:embed="rId3"/>
          <a:stretch>
            <a:fillRect/>
          </a:stretch>
        </p:blipFill>
        <p:spPr>
          <a:xfrm>
            <a:off x="766932" y="3535338"/>
            <a:ext cx="2872989" cy="472481"/>
          </a:xfrm>
          <a:prstGeom prst="rect">
            <a:avLst/>
          </a:prstGeom>
        </p:spPr>
      </p:pic>
    </p:spTree>
    <p:extLst>
      <p:ext uri="{BB962C8B-B14F-4D97-AF65-F5344CB8AC3E}">
        <p14:creationId xmlns:p14="http://schemas.microsoft.com/office/powerpoint/2010/main" val="8883938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a:extLst>
              <a:ext uri="{FF2B5EF4-FFF2-40B4-BE49-F238E27FC236}">
                <a16:creationId xmlns:a16="http://schemas.microsoft.com/office/drawing/2014/main" id="{CCEB7477-B949-9535-86B2-AC1BBCE43E1C}"/>
              </a:ext>
            </a:extLst>
          </p:cNvPr>
          <p:cNvPicPr>
            <a:picLocks noChangeAspect="1"/>
          </p:cNvPicPr>
          <p:nvPr/>
        </p:nvPicPr>
        <p:blipFill>
          <a:blip r:embed="rId3"/>
          <a:stretch>
            <a:fillRect/>
          </a:stretch>
        </p:blipFill>
        <p:spPr>
          <a:xfrm>
            <a:off x="1072301" y="1721126"/>
            <a:ext cx="5845047" cy="4252328"/>
          </a:xfrm>
          <a:prstGeom prst="rect">
            <a:avLst/>
          </a:prstGeom>
        </p:spPr>
      </p:pic>
      <p:sp>
        <p:nvSpPr>
          <p:cNvPr id="6" name="ZoneTexte 5">
            <a:extLst>
              <a:ext uri="{FF2B5EF4-FFF2-40B4-BE49-F238E27FC236}">
                <a16:creationId xmlns:a16="http://schemas.microsoft.com/office/drawing/2014/main" id="{6EA4F997-841C-0874-1652-4654E7617B63}"/>
              </a:ext>
            </a:extLst>
          </p:cNvPr>
          <p:cNvSpPr txBox="1"/>
          <p:nvPr/>
        </p:nvSpPr>
        <p:spPr>
          <a:xfrm>
            <a:off x="732227" y="884546"/>
            <a:ext cx="10312959" cy="369332"/>
          </a:xfrm>
          <a:prstGeom prst="rect">
            <a:avLst/>
          </a:prstGeom>
          <a:noFill/>
        </p:spPr>
        <p:txBody>
          <a:bodyPr wrap="square" rtlCol="0">
            <a:spAutoFit/>
          </a:bodyPr>
          <a:lstStyle/>
          <a:p>
            <a:r>
              <a:rPr lang="en-US" dirty="0"/>
              <a:t>Now compare the actual output values for </a:t>
            </a:r>
            <a:r>
              <a:rPr lang="en-US" dirty="0" err="1"/>
              <a:t>X_test</a:t>
            </a:r>
            <a:r>
              <a:rPr lang="en-US" dirty="0"/>
              <a:t> with the predicted values, execute the following script:</a:t>
            </a:r>
          </a:p>
        </p:txBody>
      </p:sp>
    </p:spTree>
    <p:extLst>
      <p:ext uri="{BB962C8B-B14F-4D97-AF65-F5344CB8AC3E}">
        <p14:creationId xmlns:p14="http://schemas.microsoft.com/office/powerpoint/2010/main" val="3568421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ZoneTexte 6">
            <a:extLst>
              <a:ext uri="{FF2B5EF4-FFF2-40B4-BE49-F238E27FC236}">
                <a16:creationId xmlns:a16="http://schemas.microsoft.com/office/drawing/2014/main" id="{47CD3A1F-5781-FAA2-6BC1-FF2665DC4AB6}"/>
              </a:ext>
            </a:extLst>
          </p:cNvPr>
          <p:cNvSpPr txBox="1"/>
          <p:nvPr/>
        </p:nvSpPr>
        <p:spPr>
          <a:xfrm>
            <a:off x="222420" y="578877"/>
            <a:ext cx="9012195" cy="369332"/>
          </a:xfrm>
          <a:prstGeom prst="rect">
            <a:avLst/>
          </a:prstGeom>
          <a:noFill/>
        </p:spPr>
        <p:txBody>
          <a:bodyPr wrap="square">
            <a:spAutoFit/>
          </a:bodyPr>
          <a:lstStyle/>
          <a:p>
            <a:r>
              <a:rPr lang="en-US" b="0" i="0" dirty="0">
                <a:solidFill>
                  <a:srgbClr val="111111"/>
                </a:solidFill>
                <a:effectLst/>
                <a:latin typeface="open sans" panose="020B0606030504020204" pitchFamily="34" charset="0"/>
              </a:rPr>
              <a:t>We can also visualize comparison result as a bar graph using the below script :</a:t>
            </a:r>
            <a:endParaRPr lang="en-US" dirty="0"/>
          </a:p>
        </p:txBody>
      </p:sp>
      <p:pic>
        <p:nvPicPr>
          <p:cNvPr id="9" name="Image 8">
            <a:extLst>
              <a:ext uri="{FF2B5EF4-FFF2-40B4-BE49-F238E27FC236}">
                <a16:creationId xmlns:a16="http://schemas.microsoft.com/office/drawing/2014/main" id="{577DD517-34B4-AA7A-D505-F03632430202}"/>
              </a:ext>
            </a:extLst>
          </p:cNvPr>
          <p:cNvPicPr>
            <a:picLocks noChangeAspect="1"/>
          </p:cNvPicPr>
          <p:nvPr/>
        </p:nvPicPr>
        <p:blipFill>
          <a:blip r:embed="rId2"/>
          <a:stretch>
            <a:fillRect/>
          </a:stretch>
        </p:blipFill>
        <p:spPr>
          <a:xfrm>
            <a:off x="402482" y="1310752"/>
            <a:ext cx="5608806" cy="1143099"/>
          </a:xfrm>
          <a:prstGeom prst="rect">
            <a:avLst/>
          </a:prstGeom>
        </p:spPr>
      </p:pic>
      <p:pic>
        <p:nvPicPr>
          <p:cNvPr id="6146" name="Picture 2" descr="Figure">
            <a:extLst>
              <a:ext uri="{FF2B5EF4-FFF2-40B4-BE49-F238E27FC236}">
                <a16:creationId xmlns:a16="http://schemas.microsoft.com/office/drawing/2014/main" id="{4AD84969-6D78-6A1F-FE10-FBED9A0F7B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566685"/>
            <a:ext cx="7091464" cy="41928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83640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ZoneTexte 4">
            <a:extLst>
              <a:ext uri="{FF2B5EF4-FFF2-40B4-BE49-F238E27FC236}">
                <a16:creationId xmlns:a16="http://schemas.microsoft.com/office/drawing/2014/main" id="{92667260-E033-035B-214D-704E88CD0333}"/>
              </a:ext>
            </a:extLst>
          </p:cNvPr>
          <p:cNvSpPr txBox="1"/>
          <p:nvPr/>
        </p:nvSpPr>
        <p:spPr>
          <a:xfrm>
            <a:off x="647228" y="916619"/>
            <a:ext cx="6094378" cy="369332"/>
          </a:xfrm>
          <a:prstGeom prst="rect">
            <a:avLst/>
          </a:prstGeom>
          <a:noFill/>
        </p:spPr>
        <p:txBody>
          <a:bodyPr wrap="square">
            <a:spAutoFit/>
          </a:bodyPr>
          <a:lstStyle/>
          <a:p>
            <a:r>
              <a:rPr lang="en-US" b="0" i="0" dirty="0">
                <a:solidFill>
                  <a:srgbClr val="111111"/>
                </a:solidFill>
                <a:effectLst/>
                <a:latin typeface="open sans" panose="020B0606030504020204" pitchFamily="34" charset="0"/>
              </a:rPr>
              <a:t>Let's plot our straight line with the test data :</a:t>
            </a:r>
            <a:endParaRPr lang="en-US" dirty="0"/>
          </a:p>
        </p:txBody>
      </p:sp>
      <p:pic>
        <p:nvPicPr>
          <p:cNvPr id="7" name="Image 6">
            <a:extLst>
              <a:ext uri="{FF2B5EF4-FFF2-40B4-BE49-F238E27FC236}">
                <a16:creationId xmlns:a16="http://schemas.microsoft.com/office/drawing/2014/main" id="{F1931C54-77D3-FF0B-A934-3A0A75853830}"/>
              </a:ext>
            </a:extLst>
          </p:cNvPr>
          <p:cNvPicPr>
            <a:picLocks noChangeAspect="1"/>
          </p:cNvPicPr>
          <p:nvPr/>
        </p:nvPicPr>
        <p:blipFill>
          <a:blip r:embed="rId3"/>
          <a:stretch>
            <a:fillRect/>
          </a:stretch>
        </p:blipFill>
        <p:spPr>
          <a:xfrm>
            <a:off x="647228" y="1542941"/>
            <a:ext cx="5448772" cy="4892464"/>
          </a:xfrm>
          <a:prstGeom prst="rect">
            <a:avLst/>
          </a:prstGeom>
        </p:spPr>
      </p:pic>
    </p:spTree>
    <p:extLst>
      <p:ext uri="{BB962C8B-B14F-4D97-AF65-F5344CB8AC3E}">
        <p14:creationId xmlns:p14="http://schemas.microsoft.com/office/powerpoint/2010/main" val="551671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THANK YOU FOR YOU ATTENTION gif! on Make a GIF | Thank you gifs, Thank you  for your attention gif, Thanks for your attention gif">
            <a:extLst>
              <a:ext uri="{FF2B5EF4-FFF2-40B4-BE49-F238E27FC236}">
                <a16:creationId xmlns:a16="http://schemas.microsoft.com/office/drawing/2014/main" id="{2E939893-3632-80ED-4ABB-FED28CEC92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67664"/>
            <a:ext cx="12039600" cy="78562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772083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514</TotalTime>
  <Words>887</Words>
  <Application>Microsoft Office PowerPoint</Application>
  <PresentationFormat>Grand écran</PresentationFormat>
  <Paragraphs>78</Paragraphs>
  <Slides>19</Slides>
  <Notes>9</Notes>
  <HiddenSlides>0</HiddenSlides>
  <MMClips>0</MMClips>
  <ScaleCrop>false</ScaleCrop>
  <HeadingPairs>
    <vt:vector size="6" baseType="variant">
      <vt:variant>
        <vt:lpstr>Polices utilisées</vt:lpstr>
      </vt:variant>
      <vt:variant>
        <vt:i4>8</vt:i4>
      </vt:variant>
      <vt:variant>
        <vt:lpstr>Thème</vt:lpstr>
      </vt:variant>
      <vt:variant>
        <vt:i4>1</vt:i4>
      </vt:variant>
      <vt:variant>
        <vt:lpstr>Titres des diapositives</vt:lpstr>
      </vt:variant>
      <vt:variant>
        <vt:i4>19</vt:i4>
      </vt:variant>
    </vt:vector>
  </HeadingPairs>
  <TitlesOfParts>
    <vt:vector size="28" baseType="lpstr">
      <vt:lpstr>Arial</vt:lpstr>
      <vt:lpstr>Calibri</vt:lpstr>
      <vt:lpstr>Calibri Light</vt:lpstr>
      <vt:lpstr>Cooper Black</vt:lpstr>
      <vt:lpstr>KaTeX_Main</vt:lpstr>
      <vt:lpstr>Lato</vt:lpstr>
      <vt:lpstr>open sans</vt:lpstr>
      <vt:lpstr>Söhne</vt:lpstr>
      <vt:lpstr>Thème Office</vt:lpstr>
      <vt:lpstr>Linear regression</vt:lpstr>
      <vt:lpstr>  Definition:</vt:lpstr>
      <vt:lpstr>Assumptions of Linear Regression </vt:lpstr>
      <vt:lpstr>Four hypothetical datasets:</vt:lpstr>
      <vt:lpstr>Residuals:</vt:lpstr>
      <vt:lpstr> </vt:lpstr>
      <vt:lpstr>Regression Line </vt:lpstr>
      <vt:lpstr>Example:</vt:lpstr>
      <vt:lpstr>Difference between linear and logistic regression</vt:lpstr>
      <vt:lpstr>Coding part: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hiba.achiche</dc:creator>
  <cp:lastModifiedBy>hiba.achiche</cp:lastModifiedBy>
  <cp:revision>15</cp:revision>
  <dcterms:created xsi:type="dcterms:W3CDTF">2023-11-21T19:03:21Z</dcterms:created>
  <dcterms:modified xsi:type="dcterms:W3CDTF">2023-12-07T10:06:36Z</dcterms:modified>
</cp:coreProperties>
</file>