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6"/>
  </p:notesMasterIdLst>
  <p:handoutMasterIdLst>
    <p:handoutMasterId r:id="rId17"/>
  </p:handoutMasterIdLst>
  <p:sldIdLst>
    <p:sldId id="256" r:id="rId5"/>
    <p:sldId id="261" r:id="rId6"/>
    <p:sldId id="259" r:id="rId7"/>
    <p:sldId id="258" r:id="rId8"/>
    <p:sldId id="262" r:id="rId9"/>
    <p:sldId id="263" r:id="rId10"/>
    <p:sldId id="264" r:id="rId11"/>
    <p:sldId id="265" r:id="rId12"/>
    <p:sldId id="267" r:id="rId13"/>
    <p:sldId id="268" r:id="rId14"/>
    <p:sldId id="26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48" autoAdjust="0"/>
  </p:normalViewPr>
  <p:slideViewPr>
    <p:cSldViewPr snapToGrid="0">
      <p:cViewPr varScale="1">
        <p:scale>
          <a:sx n="93" d="100"/>
          <a:sy n="93" d="100"/>
        </p:scale>
        <p:origin x="211" y="8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US" b="0" i="0" dirty="0" err="1"/>
            <a:t>Diagrammes</a:t>
          </a:r>
          <a:r>
            <a:rPr lang="en-US" b="0" i="0" dirty="0"/>
            <a:t> UML</a:t>
          </a:r>
          <a:endParaRPr lang="en-US" dirty="0"/>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5605D28D-2CE6-4513-8566-952984E21E14}">
      <dgm:prSet phldrT="[Text]"/>
      <dgm:spPr/>
      <dgm:t>
        <a:bodyPr/>
        <a:lstStyle/>
        <a:p>
          <a:pPr>
            <a:lnSpc>
              <a:spcPct val="100000"/>
            </a:lnSpc>
          </a:pPr>
          <a:r>
            <a:rPr lang="fr-FR" b="0" i="0" dirty="0"/>
            <a:t>Diagrammes à base de code</a:t>
          </a:r>
          <a:endParaRPr lang="en-US" dirty="0"/>
        </a:p>
      </dgm:t>
    </dgm:pt>
    <dgm:pt modelId="{823D1971-2C4D-4EC5-A874-2F463DE37109}" type="sibTrans" cxnId="{FAF3F884-F0CF-440F-8CB1-B7648AB1B138}">
      <dgm:prSet/>
      <dgm:spPr/>
      <dgm:t>
        <a:bodyPr/>
        <a:lstStyle/>
        <a:p>
          <a:endParaRPr lang="en-US"/>
        </a:p>
      </dgm:t>
    </dgm:pt>
    <dgm:pt modelId="{EB15AB98-362B-4E70-A3DA-995FC3E8BA79}" type="parTrans" cxnId="{FAF3F884-F0CF-440F-8CB1-B7648AB1B138}">
      <dgm:prSet/>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2"/>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2"/>
      <dgm:spPr/>
    </dgm:pt>
    <dgm:pt modelId="{429CABD1-4116-474B-81BF-735E2CA9DD00}" type="pres">
      <dgm:prSet presAssocID="{7E5AA53B-3EEE-4DE4-BB81-9044890C2946}" presName="dstNode" presStyleLbl="node1" presStyleIdx="0" presStyleCnt="2"/>
      <dgm:spPr/>
    </dgm:pt>
    <dgm:pt modelId="{58319267-C71E-43C9-94E1-827D0616C7A7}" type="pres">
      <dgm:prSet presAssocID="{6750AC01-D39D-4F3A-9DC8-2A211EE986A2}" presName="text_1" presStyleLbl="node1" presStyleIdx="0" presStyleCnt="2">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2"/>
      <dgm:spPr/>
    </dgm:pt>
    <dgm:pt modelId="{343EA3B6-92F8-49CA-8E56-3E16E4A0FA5D}" type="pres">
      <dgm:prSet presAssocID="{5605D28D-2CE6-4513-8566-952984E21E14}" presName="text_2" presStyleLbl="node1" presStyleIdx="1" presStyleCnt="2">
        <dgm:presLayoutVars>
          <dgm:bulletEnabled val="1"/>
        </dgm:presLayoutVars>
      </dgm:prSet>
      <dgm:spPr/>
    </dgm:pt>
    <dgm:pt modelId="{DBD4C39D-E4C5-43F9-B6FE-1C1695ECFADA}" type="pres">
      <dgm:prSet presAssocID="{5605D28D-2CE6-4513-8566-952984E21E14}" presName="accent_2" presStyleCnt="0"/>
      <dgm:spPr/>
    </dgm:pt>
    <dgm:pt modelId="{A965097E-32F1-4AB8-8C4E-2814A7596B2F}" type="pres">
      <dgm:prSet presAssocID="{5605D28D-2CE6-4513-8566-952984E21E14}" presName="accentRepeatNode" presStyleLbl="solidFgAcc1" presStyleIdx="1" presStyleCnt="2"/>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FAF3F884-F0CF-440F-8CB1-B7648AB1B138}" srcId="{7E5AA53B-3EEE-4DE4-BB81-9044890C2946}" destId="{5605D28D-2CE6-4513-8566-952984E21E14}" srcOrd="1"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FF83FBB-44F9-4015-8B65-F3D31993FF74}" type="presOf" srcId="{5605D28D-2CE6-4513-8566-952984E21E14}" destId="{343EA3B6-92F8-49CA-8E56-3E16E4A0FA5D}"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D23217DD-2A9F-43E0-A6CC-91881051D315}" type="presParOf" srcId="{90561C55-3C6E-4D53-85E1-2C50BCDDA392}" destId="{343EA3B6-92F8-49CA-8E56-3E16E4A0FA5D}" srcOrd="3" destOrd="0" presId="urn:microsoft.com/office/officeart/2008/layout/VerticalCurvedList"/>
    <dgm:cxn modelId="{87A43267-56CE-4FF5-9BF9-9BFE943F3663}" type="presParOf" srcId="{90561C55-3C6E-4D53-85E1-2C50BCDDA392}" destId="{DBD4C39D-E4C5-43F9-B6FE-1C1695ECFADA}" srcOrd="4" destOrd="0" presId="urn:microsoft.com/office/officeart/2008/layout/VerticalCurvedList"/>
    <dgm:cxn modelId="{AC3903BF-8E61-426E-B6E9-8085FE2F623F}" type="presParOf" srcId="{DBD4C39D-E4C5-43F9-B6FE-1C1695ECFADA}"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00085"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655140" y="509144"/>
          <a:ext cx="6180307" cy="1018145"/>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8153" tIns="91440" rIns="91440" bIns="91440" numCol="1" spcCol="1270" anchor="ctr" anchorCtr="0">
          <a:noAutofit/>
        </a:bodyPr>
        <a:lstStyle/>
        <a:p>
          <a:pPr marL="0" lvl="0" indent="0" algn="l" defTabSz="1600200">
            <a:lnSpc>
              <a:spcPct val="100000"/>
            </a:lnSpc>
            <a:spcBef>
              <a:spcPct val="0"/>
            </a:spcBef>
            <a:spcAft>
              <a:spcPct val="35000"/>
            </a:spcAft>
            <a:buNone/>
          </a:pPr>
          <a:r>
            <a:rPr lang="en-US" sz="3600" b="0" i="0" kern="1200" dirty="0" err="1"/>
            <a:t>Diagrammes</a:t>
          </a:r>
          <a:r>
            <a:rPr lang="en-US" sz="3600" b="0" i="0" kern="1200" dirty="0"/>
            <a:t> UML</a:t>
          </a:r>
          <a:endParaRPr lang="en-US" sz="3600" kern="1200" dirty="0"/>
        </a:p>
      </dsp:txBody>
      <dsp:txXfrm>
        <a:off x="655140" y="509144"/>
        <a:ext cx="6180307" cy="1018145"/>
      </dsp:txXfrm>
    </dsp:sp>
    <dsp:sp modelId="{07CB3071-D555-47DA-A36A-69EB91531FD8}">
      <dsp:nvSpPr>
        <dsp:cNvPr id="0" name=""/>
        <dsp:cNvSpPr/>
      </dsp:nvSpPr>
      <dsp:spPr>
        <a:xfrm>
          <a:off x="18799" y="381875"/>
          <a:ext cx="1272682" cy="1272682"/>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43EA3B6-92F8-49CA-8E56-3E16E4A0FA5D}">
      <dsp:nvSpPr>
        <dsp:cNvPr id="0" name=""/>
        <dsp:cNvSpPr/>
      </dsp:nvSpPr>
      <dsp:spPr>
        <a:xfrm>
          <a:off x="655140" y="2036648"/>
          <a:ext cx="6180307" cy="1018145"/>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8153" tIns="91440" rIns="91440" bIns="91440" numCol="1" spcCol="1270" anchor="ctr" anchorCtr="0">
          <a:noAutofit/>
        </a:bodyPr>
        <a:lstStyle/>
        <a:p>
          <a:pPr marL="0" lvl="0" indent="0" algn="l" defTabSz="1600200">
            <a:lnSpc>
              <a:spcPct val="100000"/>
            </a:lnSpc>
            <a:spcBef>
              <a:spcPct val="0"/>
            </a:spcBef>
            <a:spcAft>
              <a:spcPct val="35000"/>
            </a:spcAft>
            <a:buNone/>
          </a:pPr>
          <a:r>
            <a:rPr lang="fr-FR" sz="3600" b="0" i="0" kern="1200" dirty="0"/>
            <a:t>Diagrammes à base de code</a:t>
          </a:r>
          <a:endParaRPr lang="en-US" sz="3600" kern="1200" dirty="0"/>
        </a:p>
      </dsp:txBody>
      <dsp:txXfrm>
        <a:off x="655140" y="2036648"/>
        <a:ext cx="6180307" cy="1018145"/>
      </dsp:txXfrm>
    </dsp:sp>
    <dsp:sp modelId="{A965097E-32F1-4AB8-8C4E-2814A7596B2F}">
      <dsp:nvSpPr>
        <dsp:cNvPr id="0" name=""/>
        <dsp:cNvSpPr/>
      </dsp:nvSpPr>
      <dsp:spPr>
        <a:xfrm>
          <a:off x="18799" y="1909379"/>
          <a:ext cx="1272682" cy="1272682"/>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11/24/2023</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‹N°›</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11/24/2023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‹N°›</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rgbClr val="282C33"/>
                </a:solidFill>
                <a:latin typeface="Graphik"/>
              </a:rPr>
              <a:t>I</a:t>
            </a:r>
            <a:r>
              <a:rPr lang="fr-FR" b="0" i="0" dirty="0">
                <a:solidFill>
                  <a:srgbClr val="282C33"/>
                </a:solidFill>
                <a:effectLst/>
                <a:latin typeface="Graphik"/>
              </a:rPr>
              <a:t>l existe deux types de diagrammes de séquence : les diagrammes UML et les diagrammes à base de code</a:t>
            </a:r>
            <a:br>
              <a:rPr lang="fr-FR" b="0" i="0" dirty="0">
                <a:solidFill>
                  <a:srgbClr val="282C33"/>
                </a:solidFill>
                <a:effectLst/>
                <a:latin typeface="Graphik"/>
              </a:rPr>
            </a:br>
            <a:r>
              <a:rPr lang="fr-FR" b="0" i="0" dirty="0">
                <a:solidFill>
                  <a:srgbClr val="ECECF1"/>
                </a:solidFill>
                <a:effectLst/>
                <a:latin typeface="Söhne"/>
              </a:rPr>
              <a:t>Les diagrammes de séquence UML représentent visuellement les interactions entre objets dans un système logiciel, tandis que les diagrammes à base de code fournissent une représentation graphique des flux d'exécution du code source, aidant les développeurs à comprendre la logique opérationnelle du programme. Ces deux types de diagrammes facilitent la compréhension et la communication dans le processus de conception et de développement logiciel.</a:t>
            </a:r>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282C33"/>
                </a:solidFill>
                <a:effectLst/>
                <a:latin typeface="Graphik"/>
              </a:rPr>
              <a:t>Pour comprendre ce qu'est un diagramme de séquence, vous devez connaître ses symboles et ses composants. Les diagrammes de séquence sont composés des icônes et des éléments suivants :</a:t>
            </a:r>
            <a:endParaRPr lang="en-US" dirty="0"/>
          </a:p>
        </p:txBody>
      </p:sp>
      <p:sp>
        <p:nvSpPr>
          <p:cNvPr id="4" name="Espace réservé du numéro de diapositive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460755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282C33"/>
                </a:solidFill>
                <a:effectLst/>
                <a:latin typeface="Graphik"/>
              </a:rPr>
              <a:t>Utilisez les flèches et les symboles de messages suivants pour indiquer comment les informations sont transmises entre des objets. Ces symboles peuvent représenter le début et l'exécution d'une opération, ou l'envoi et la réception d'un signal.</a:t>
            </a:r>
            <a:endParaRPr lang="en-US" dirty="0"/>
          </a:p>
        </p:txBody>
      </p:sp>
      <p:sp>
        <p:nvSpPr>
          <p:cNvPr id="4" name="Espace réservé du numéro de diapositive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3076115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282C33"/>
                </a:solidFill>
                <a:effectLst/>
                <a:latin typeface="Graphik"/>
              </a:rPr>
              <a:t>Un DAB permet aux clients d’accéder à leurs comptes bancaires par le biais d'un processus entièrement automatisé</a:t>
            </a:r>
            <a:endParaRPr lang="en-US" dirty="0"/>
          </a:p>
        </p:txBody>
      </p:sp>
      <p:sp>
        <p:nvSpPr>
          <p:cNvPr id="4" name="Espace réservé du numéro de diapositive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2424225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282C33"/>
                </a:solidFill>
                <a:effectLst/>
                <a:latin typeface="Graphik"/>
              </a:rPr>
              <a:t>Un DAB permet aux clients d’accéder à leurs comptes bancaires par le biais d'un processus entièrement automatisé</a:t>
            </a:r>
            <a:endParaRPr lang="en-US" dirty="0"/>
          </a:p>
        </p:txBody>
      </p:sp>
      <p:sp>
        <p:nvSpPr>
          <p:cNvPr id="4" name="Espace réservé du numéro de diapositive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2814654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11/24/2023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11/24/2023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err="1">
                <a:solidFill>
                  <a:schemeClr val="bg1"/>
                </a:solidFill>
              </a:rPr>
              <a:t>Diagramme</a:t>
            </a:r>
            <a:r>
              <a:rPr lang="en-US" sz="6000" dirty="0">
                <a:solidFill>
                  <a:schemeClr val="bg1"/>
                </a:solidFill>
              </a:rPr>
              <a:t> de </a:t>
            </a:r>
            <a:r>
              <a:rPr lang="en-US" sz="6000" dirty="0" err="1">
                <a:solidFill>
                  <a:schemeClr val="bg1"/>
                </a:solidFill>
              </a:rPr>
              <a:t>séquence</a:t>
            </a:r>
            <a:endParaRPr lang="en-US" sz="6000"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fr-FR" dirty="0">
                <a:solidFill>
                  <a:srgbClr val="7CEBFF"/>
                </a:solidFill>
              </a:rPr>
              <a:t>Présenté par : </a:t>
            </a:r>
            <a:r>
              <a:rPr lang="fr-FR" dirty="0" err="1">
                <a:solidFill>
                  <a:srgbClr val="7CEBFF"/>
                </a:solidFill>
              </a:rPr>
              <a:t>fedy</a:t>
            </a:r>
            <a:r>
              <a:rPr lang="fr-FR" dirty="0">
                <a:solidFill>
                  <a:srgbClr val="7CEBFF"/>
                </a:solidFill>
              </a:rPr>
              <a:t> </a:t>
            </a:r>
            <a:r>
              <a:rPr lang="fr-FR" dirty="0" err="1">
                <a:solidFill>
                  <a:srgbClr val="7CEBFF"/>
                </a:solidFill>
              </a:rPr>
              <a:t>nakib</a:t>
            </a:r>
            <a:r>
              <a:rPr lang="fr-FR" dirty="0">
                <a:solidFill>
                  <a:srgbClr val="7CEBFF"/>
                </a:solidFill>
              </a:rPr>
              <a:t> &amp; </a:t>
            </a:r>
            <a:r>
              <a:rPr lang="fr-FR" dirty="0" err="1">
                <a:solidFill>
                  <a:srgbClr val="7CEBFF"/>
                </a:solidFill>
              </a:rPr>
              <a:t>rania</a:t>
            </a:r>
            <a:r>
              <a:rPr lang="fr-FR" dirty="0">
                <a:solidFill>
                  <a:srgbClr val="7CEBFF"/>
                </a:solidFill>
              </a:rPr>
              <a:t> </a:t>
            </a:r>
            <a:r>
              <a:rPr lang="fr-FR" dirty="0" err="1">
                <a:solidFill>
                  <a:srgbClr val="7CEBFF"/>
                </a:solidFill>
              </a:rPr>
              <a:t>dellagi</a:t>
            </a:r>
            <a:r>
              <a:rPr lang="fr-FR" dirty="0">
                <a:solidFill>
                  <a:srgbClr val="7CEBFF"/>
                </a:solidFill>
              </a:rPr>
              <a:t> &amp; hiba achiche</a:t>
            </a:r>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3" y="729658"/>
            <a:ext cx="11029616" cy="988332"/>
          </a:xfrm>
        </p:spPr>
        <p:txBody>
          <a:bodyPr anchor="b">
            <a:normAutofit/>
          </a:bodyPr>
          <a:lstStyle/>
          <a:p>
            <a:r>
              <a:rPr lang="en-US" err="1"/>
              <a:t>Définition</a:t>
            </a:r>
            <a:endParaRPr lang="en-US"/>
          </a:p>
        </p:txBody>
      </p:sp>
      <p:pic>
        <p:nvPicPr>
          <p:cNvPr id="1026" name="Picture 2" descr="Top 8 des outils de diagramme UML en ligne gratuits pour 2022">
            <a:extLst>
              <a:ext uri="{FF2B5EF4-FFF2-40B4-BE49-F238E27FC236}">
                <a16:creationId xmlns:a16="http://schemas.microsoft.com/office/drawing/2014/main" id="{CDC4011B-008F-FC58-ACA4-FD1AC1BD7E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123" b="3"/>
          <a:stretch/>
        </p:blipFill>
        <p:spPr bwMode="auto">
          <a:xfrm>
            <a:off x="581193" y="2228003"/>
            <a:ext cx="5422390" cy="363304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Espace réservé du contenu 4">
            <a:extLst>
              <a:ext uri="{FF2B5EF4-FFF2-40B4-BE49-F238E27FC236}">
                <a16:creationId xmlns:a16="http://schemas.microsoft.com/office/drawing/2014/main" id="{C91A21D2-0EA5-2921-109F-28592CBA89EA}"/>
              </a:ext>
            </a:extLst>
          </p:cNvPr>
          <p:cNvSpPr>
            <a:spLocks noGrp="1"/>
          </p:cNvSpPr>
          <p:nvPr>
            <p:ph sz="half" idx="2"/>
          </p:nvPr>
        </p:nvSpPr>
        <p:spPr>
          <a:xfrm>
            <a:off x="6188417" y="2228003"/>
            <a:ext cx="5422390" cy="3633047"/>
          </a:xfrm>
        </p:spPr>
        <p:txBody>
          <a:bodyPr anchor="ctr">
            <a:normAutofit/>
          </a:bodyPr>
          <a:lstStyle/>
          <a:p>
            <a:r>
              <a:rPr lang="fr-FR" b="0" i="0" dirty="0">
                <a:effectLst/>
              </a:rPr>
              <a:t>Un diagramme de séquence est un type de diagramme d'interaction, car il décrit comment et dans quel ordre plusieurs objets fonctionnent ensemble. Ces diagrammes sont utilisés à la fois par les développeurs logiciels et les managers d'entreprises pour analyser les besoins d'un nouveau système ou documenter un processus existant. Les diagrammes de séquence sont parfois appelés diagrammes d'événements ou scénarios d'événements.</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fr-FR" dirty="0"/>
              <a:t>types de diagrammes de séquence</a:t>
            </a:r>
            <a:endParaRPr lang="en-US" dirty="0"/>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383384997"/>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err="1"/>
              <a:t>Composants</a:t>
            </a:r>
            <a:r>
              <a:rPr lang="en-US" dirty="0"/>
              <a:t> et </a:t>
            </a:r>
            <a:r>
              <a:rPr lang="en-US" dirty="0" err="1"/>
              <a:t>symboles</a:t>
            </a:r>
            <a:r>
              <a:rPr lang="en-US" dirty="0"/>
              <a:t> </a:t>
            </a:r>
            <a:r>
              <a:rPr lang="en-US" dirty="0" err="1"/>
              <a:t>élémentaires</a:t>
            </a:r>
            <a:endParaRPr lang="en-US" dirty="0"/>
          </a:p>
        </p:txBody>
      </p:sp>
      <p:pic>
        <p:nvPicPr>
          <p:cNvPr id="13" name="Image 12">
            <a:extLst>
              <a:ext uri="{FF2B5EF4-FFF2-40B4-BE49-F238E27FC236}">
                <a16:creationId xmlns:a16="http://schemas.microsoft.com/office/drawing/2014/main" id="{CDE5FBFC-7E00-CE36-BA34-CDF7102A1F0C}"/>
              </a:ext>
            </a:extLst>
          </p:cNvPr>
          <p:cNvPicPr>
            <a:picLocks noChangeAspect="1"/>
          </p:cNvPicPr>
          <p:nvPr/>
        </p:nvPicPr>
        <p:blipFill>
          <a:blip r:embed="rId3"/>
          <a:stretch>
            <a:fillRect/>
          </a:stretch>
        </p:blipFill>
        <p:spPr>
          <a:xfrm>
            <a:off x="350743" y="3453173"/>
            <a:ext cx="4732212" cy="3050473"/>
          </a:xfrm>
          <a:prstGeom prst="rect">
            <a:avLst/>
          </a:prstGeom>
        </p:spPr>
      </p:pic>
      <p:pic>
        <p:nvPicPr>
          <p:cNvPr id="15" name="Image 14">
            <a:extLst>
              <a:ext uri="{FF2B5EF4-FFF2-40B4-BE49-F238E27FC236}">
                <a16:creationId xmlns:a16="http://schemas.microsoft.com/office/drawing/2014/main" id="{ACFADCA0-20EA-F98E-C806-95B310D68881}"/>
              </a:ext>
            </a:extLst>
          </p:cNvPr>
          <p:cNvPicPr>
            <a:picLocks noChangeAspect="1"/>
          </p:cNvPicPr>
          <p:nvPr/>
        </p:nvPicPr>
        <p:blipFill>
          <a:blip r:embed="rId4"/>
          <a:stretch>
            <a:fillRect/>
          </a:stretch>
        </p:blipFill>
        <p:spPr>
          <a:xfrm>
            <a:off x="350743" y="2054329"/>
            <a:ext cx="4806143" cy="1398844"/>
          </a:xfrm>
          <a:prstGeom prst="rect">
            <a:avLst/>
          </a:prstGeom>
        </p:spPr>
      </p:pic>
      <p:pic>
        <p:nvPicPr>
          <p:cNvPr id="17" name="Image 16">
            <a:extLst>
              <a:ext uri="{FF2B5EF4-FFF2-40B4-BE49-F238E27FC236}">
                <a16:creationId xmlns:a16="http://schemas.microsoft.com/office/drawing/2014/main" id="{8ACBFC83-2276-48C1-C1C6-C4AF8BA88561}"/>
              </a:ext>
            </a:extLst>
          </p:cNvPr>
          <p:cNvPicPr>
            <a:picLocks noChangeAspect="1"/>
          </p:cNvPicPr>
          <p:nvPr/>
        </p:nvPicPr>
        <p:blipFill>
          <a:blip r:embed="rId5"/>
          <a:stretch>
            <a:fillRect/>
          </a:stretch>
        </p:blipFill>
        <p:spPr>
          <a:xfrm>
            <a:off x="5303937" y="1922505"/>
            <a:ext cx="4573231" cy="2009828"/>
          </a:xfrm>
          <a:prstGeom prst="rect">
            <a:avLst/>
          </a:prstGeom>
        </p:spPr>
      </p:pic>
      <p:pic>
        <p:nvPicPr>
          <p:cNvPr id="20" name="Image 19">
            <a:extLst>
              <a:ext uri="{FF2B5EF4-FFF2-40B4-BE49-F238E27FC236}">
                <a16:creationId xmlns:a16="http://schemas.microsoft.com/office/drawing/2014/main" id="{AB51A8BB-8DA9-9EA2-B5EB-7386DF033BF8}"/>
              </a:ext>
            </a:extLst>
          </p:cNvPr>
          <p:cNvPicPr>
            <a:picLocks noChangeAspect="1"/>
          </p:cNvPicPr>
          <p:nvPr/>
        </p:nvPicPr>
        <p:blipFill>
          <a:blip r:embed="rId6"/>
          <a:stretch>
            <a:fillRect/>
          </a:stretch>
        </p:blipFill>
        <p:spPr>
          <a:xfrm>
            <a:off x="5581447" y="4387185"/>
            <a:ext cx="4836969" cy="1505651"/>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err="1"/>
              <a:t>Composants</a:t>
            </a:r>
            <a:r>
              <a:rPr lang="en-US" dirty="0"/>
              <a:t> et </a:t>
            </a:r>
            <a:r>
              <a:rPr lang="en-US" dirty="0" err="1"/>
              <a:t>symboles</a:t>
            </a:r>
            <a:r>
              <a:rPr lang="en-US" dirty="0"/>
              <a:t> </a:t>
            </a:r>
            <a:r>
              <a:rPr lang="en-US" dirty="0" err="1"/>
              <a:t>élémentaires</a:t>
            </a:r>
            <a:endParaRPr lang="en-US" dirty="0"/>
          </a:p>
        </p:txBody>
      </p:sp>
      <p:pic>
        <p:nvPicPr>
          <p:cNvPr id="4" name="Image 3">
            <a:extLst>
              <a:ext uri="{FF2B5EF4-FFF2-40B4-BE49-F238E27FC236}">
                <a16:creationId xmlns:a16="http://schemas.microsoft.com/office/drawing/2014/main" id="{7366B023-4E26-15DF-0494-0415B21D4E4F}"/>
              </a:ext>
            </a:extLst>
          </p:cNvPr>
          <p:cNvPicPr>
            <a:picLocks noChangeAspect="1"/>
          </p:cNvPicPr>
          <p:nvPr/>
        </p:nvPicPr>
        <p:blipFill>
          <a:blip r:embed="rId2"/>
          <a:stretch>
            <a:fillRect/>
          </a:stretch>
        </p:blipFill>
        <p:spPr>
          <a:xfrm>
            <a:off x="2342643" y="4157444"/>
            <a:ext cx="6868228" cy="2137941"/>
          </a:xfrm>
          <a:prstGeom prst="rect">
            <a:avLst/>
          </a:prstGeom>
        </p:spPr>
      </p:pic>
      <p:pic>
        <p:nvPicPr>
          <p:cNvPr id="6" name="Image 5">
            <a:extLst>
              <a:ext uri="{FF2B5EF4-FFF2-40B4-BE49-F238E27FC236}">
                <a16:creationId xmlns:a16="http://schemas.microsoft.com/office/drawing/2014/main" id="{249B7C74-E1DF-AB75-1A1B-A48FAC353F0F}"/>
              </a:ext>
            </a:extLst>
          </p:cNvPr>
          <p:cNvPicPr>
            <a:picLocks noChangeAspect="1"/>
          </p:cNvPicPr>
          <p:nvPr/>
        </p:nvPicPr>
        <p:blipFill>
          <a:blip r:embed="rId3"/>
          <a:stretch>
            <a:fillRect/>
          </a:stretch>
        </p:blipFill>
        <p:spPr>
          <a:xfrm>
            <a:off x="249566" y="2399351"/>
            <a:ext cx="6092241" cy="1446653"/>
          </a:xfrm>
          <a:prstGeom prst="rect">
            <a:avLst/>
          </a:prstGeom>
        </p:spPr>
      </p:pic>
      <p:pic>
        <p:nvPicPr>
          <p:cNvPr id="8" name="Image 7">
            <a:extLst>
              <a:ext uri="{FF2B5EF4-FFF2-40B4-BE49-F238E27FC236}">
                <a16:creationId xmlns:a16="http://schemas.microsoft.com/office/drawing/2014/main" id="{73BDF8AB-2A8D-3088-2B25-A0F7FEE0A496}"/>
              </a:ext>
            </a:extLst>
          </p:cNvPr>
          <p:cNvPicPr>
            <a:picLocks noChangeAspect="1"/>
          </p:cNvPicPr>
          <p:nvPr/>
        </p:nvPicPr>
        <p:blipFill>
          <a:blip r:embed="rId4"/>
          <a:stretch>
            <a:fillRect/>
          </a:stretch>
        </p:blipFill>
        <p:spPr>
          <a:xfrm>
            <a:off x="6095999" y="2089357"/>
            <a:ext cx="5942485" cy="2138517"/>
          </a:xfrm>
          <a:prstGeom prst="rect">
            <a:avLst/>
          </a:prstGeom>
        </p:spPr>
      </p:pic>
    </p:spTree>
    <p:extLst>
      <p:ext uri="{BB962C8B-B14F-4D97-AF65-F5344CB8AC3E}">
        <p14:creationId xmlns:p14="http://schemas.microsoft.com/office/powerpoint/2010/main" val="4252669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err="1"/>
              <a:t>symboles</a:t>
            </a:r>
            <a:r>
              <a:rPr lang="en-US" dirty="0"/>
              <a:t> de messages courants</a:t>
            </a:r>
          </a:p>
        </p:txBody>
      </p:sp>
      <p:pic>
        <p:nvPicPr>
          <p:cNvPr id="5" name="Image 4">
            <a:extLst>
              <a:ext uri="{FF2B5EF4-FFF2-40B4-BE49-F238E27FC236}">
                <a16:creationId xmlns:a16="http://schemas.microsoft.com/office/drawing/2014/main" id="{F6C4C25F-BD75-2CEC-0058-52872C2C985F}"/>
              </a:ext>
            </a:extLst>
          </p:cNvPr>
          <p:cNvPicPr>
            <a:picLocks noChangeAspect="1"/>
          </p:cNvPicPr>
          <p:nvPr/>
        </p:nvPicPr>
        <p:blipFill>
          <a:blip r:embed="rId3"/>
          <a:stretch>
            <a:fillRect/>
          </a:stretch>
        </p:blipFill>
        <p:spPr>
          <a:xfrm>
            <a:off x="405284" y="2067485"/>
            <a:ext cx="6204149" cy="2012902"/>
          </a:xfrm>
          <a:prstGeom prst="rect">
            <a:avLst/>
          </a:prstGeom>
        </p:spPr>
      </p:pic>
      <p:pic>
        <p:nvPicPr>
          <p:cNvPr id="9" name="Image 8">
            <a:extLst>
              <a:ext uri="{FF2B5EF4-FFF2-40B4-BE49-F238E27FC236}">
                <a16:creationId xmlns:a16="http://schemas.microsoft.com/office/drawing/2014/main" id="{2CA7772B-62F6-398D-1400-14DF46C01A0B}"/>
              </a:ext>
            </a:extLst>
          </p:cNvPr>
          <p:cNvPicPr>
            <a:picLocks noChangeAspect="1"/>
          </p:cNvPicPr>
          <p:nvPr/>
        </p:nvPicPr>
        <p:blipFill>
          <a:blip r:embed="rId4"/>
          <a:stretch>
            <a:fillRect/>
          </a:stretch>
        </p:blipFill>
        <p:spPr>
          <a:xfrm>
            <a:off x="4590388" y="4429882"/>
            <a:ext cx="6767146" cy="2110923"/>
          </a:xfrm>
          <a:prstGeom prst="rect">
            <a:avLst/>
          </a:prstGeom>
        </p:spPr>
      </p:pic>
    </p:spTree>
    <p:extLst>
      <p:ext uri="{BB962C8B-B14F-4D97-AF65-F5344CB8AC3E}">
        <p14:creationId xmlns:p14="http://schemas.microsoft.com/office/powerpoint/2010/main" val="993732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err="1"/>
              <a:t>symboles</a:t>
            </a:r>
            <a:r>
              <a:rPr lang="en-US" dirty="0"/>
              <a:t> de messages courants</a:t>
            </a:r>
          </a:p>
        </p:txBody>
      </p:sp>
      <p:pic>
        <p:nvPicPr>
          <p:cNvPr id="4" name="Image 3">
            <a:extLst>
              <a:ext uri="{FF2B5EF4-FFF2-40B4-BE49-F238E27FC236}">
                <a16:creationId xmlns:a16="http://schemas.microsoft.com/office/drawing/2014/main" id="{B6355F09-0409-D3B8-991A-44507D0962F7}"/>
              </a:ext>
            </a:extLst>
          </p:cNvPr>
          <p:cNvPicPr>
            <a:picLocks noChangeAspect="1"/>
          </p:cNvPicPr>
          <p:nvPr/>
        </p:nvPicPr>
        <p:blipFill>
          <a:blip r:embed="rId2"/>
          <a:stretch>
            <a:fillRect/>
          </a:stretch>
        </p:blipFill>
        <p:spPr>
          <a:xfrm>
            <a:off x="259399" y="2209986"/>
            <a:ext cx="6143004" cy="1219014"/>
          </a:xfrm>
          <a:prstGeom prst="rect">
            <a:avLst/>
          </a:prstGeom>
        </p:spPr>
      </p:pic>
      <p:pic>
        <p:nvPicPr>
          <p:cNvPr id="7" name="Image 6">
            <a:extLst>
              <a:ext uri="{FF2B5EF4-FFF2-40B4-BE49-F238E27FC236}">
                <a16:creationId xmlns:a16="http://schemas.microsoft.com/office/drawing/2014/main" id="{192F3B5D-BD5C-8122-AEC7-B5D48A4E1BBA}"/>
              </a:ext>
            </a:extLst>
          </p:cNvPr>
          <p:cNvPicPr>
            <a:picLocks noChangeAspect="1"/>
          </p:cNvPicPr>
          <p:nvPr/>
        </p:nvPicPr>
        <p:blipFill>
          <a:blip r:embed="rId3"/>
          <a:stretch>
            <a:fillRect/>
          </a:stretch>
        </p:blipFill>
        <p:spPr>
          <a:xfrm>
            <a:off x="259400" y="3736284"/>
            <a:ext cx="6237644" cy="1219014"/>
          </a:xfrm>
          <a:prstGeom prst="rect">
            <a:avLst/>
          </a:prstGeom>
        </p:spPr>
      </p:pic>
      <p:pic>
        <p:nvPicPr>
          <p:cNvPr id="10" name="Image 9">
            <a:extLst>
              <a:ext uri="{FF2B5EF4-FFF2-40B4-BE49-F238E27FC236}">
                <a16:creationId xmlns:a16="http://schemas.microsoft.com/office/drawing/2014/main" id="{76A9420B-5209-1542-BC7B-E9049141315F}"/>
              </a:ext>
            </a:extLst>
          </p:cNvPr>
          <p:cNvPicPr>
            <a:picLocks noChangeAspect="1"/>
          </p:cNvPicPr>
          <p:nvPr/>
        </p:nvPicPr>
        <p:blipFill>
          <a:blip r:embed="rId4"/>
          <a:stretch>
            <a:fillRect/>
          </a:stretch>
        </p:blipFill>
        <p:spPr>
          <a:xfrm>
            <a:off x="168830" y="5428509"/>
            <a:ext cx="6328214" cy="1225509"/>
          </a:xfrm>
          <a:prstGeom prst="rect">
            <a:avLst/>
          </a:prstGeom>
        </p:spPr>
      </p:pic>
      <p:pic>
        <p:nvPicPr>
          <p:cNvPr id="12" name="Image 11">
            <a:extLst>
              <a:ext uri="{FF2B5EF4-FFF2-40B4-BE49-F238E27FC236}">
                <a16:creationId xmlns:a16="http://schemas.microsoft.com/office/drawing/2014/main" id="{911B7E78-5423-95F9-7EFB-9DEAF6CC2E4E}"/>
              </a:ext>
            </a:extLst>
          </p:cNvPr>
          <p:cNvPicPr>
            <a:picLocks noChangeAspect="1"/>
          </p:cNvPicPr>
          <p:nvPr/>
        </p:nvPicPr>
        <p:blipFill>
          <a:blip r:embed="rId5"/>
          <a:stretch>
            <a:fillRect/>
          </a:stretch>
        </p:blipFill>
        <p:spPr>
          <a:xfrm>
            <a:off x="6513647" y="3046346"/>
            <a:ext cx="5678353" cy="2598890"/>
          </a:xfrm>
          <a:prstGeom prst="rect">
            <a:avLst/>
          </a:prstGeom>
        </p:spPr>
      </p:pic>
    </p:spTree>
    <p:extLst>
      <p:ext uri="{BB962C8B-B14F-4D97-AF65-F5344CB8AC3E}">
        <p14:creationId xmlns:p14="http://schemas.microsoft.com/office/powerpoint/2010/main" val="2527183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fr-FR"/>
              <a:t>Exemple : Diagramme de séquence pour les systèmes de distributeurs automatiques de billets (DAB) </a:t>
            </a:r>
            <a:endParaRPr lang="en-US" dirty="0"/>
          </a:p>
        </p:txBody>
      </p:sp>
      <p:sp>
        <p:nvSpPr>
          <p:cNvPr id="5" name="ZoneTexte 4">
            <a:extLst>
              <a:ext uri="{FF2B5EF4-FFF2-40B4-BE49-F238E27FC236}">
                <a16:creationId xmlns:a16="http://schemas.microsoft.com/office/drawing/2014/main" id="{76F06B23-9B33-036B-DAC8-3945035CA92D}"/>
              </a:ext>
            </a:extLst>
          </p:cNvPr>
          <p:cNvSpPr txBox="1"/>
          <p:nvPr/>
        </p:nvSpPr>
        <p:spPr>
          <a:xfrm>
            <a:off x="581193" y="2228003"/>
            <a:ext cx="5422390" cy="3633047"/>
          </a:xfrm>
          <a:prstGeom prst="rect">
            <a:avLst/>
          </a:prstGeom>
        </p:spPr>
        <p:txBody>
          <a:bodyPr vert="horz" lIns="91440" tIns="45720" rIns="91440" bIns="45720" rtlCol="0" anchor="ctr">
            <a:normAutofit/>
          </a:bodyPr>
          <a:lstStyle/>
          <a:p>
            <a:pPr>
              <a:spcBef>
                <a:spcPct val="20000"/>
              </a:spcBef>
              <a:spcAft>
                <a:spcPts val="600"/>
              </a:spcAft>
              <a:buClr>
                <a:schemeClr val="accent2"/>
              </a:buClr>
              <a:buSzPct val="92000"/>
              <a:buFont typeface="Wingdings 2" panose="05020102010507070707" pitchFamily="18" charset="2"/>
              <a:buChar char=""/>
            </a:pPr>
            <a:r>
              <a:rPr lang="fr-FR" b="0" i="0" dirty="0">
                <a:solidFill>
                  <a:schemeClr val="tx2"/>
                </a:solidFill>
                <a:effectLst/>
              </a:rPr>
              <a:t>Un DAB permet aux clients d’accéder à leurs comptes bancaires par le biais d'un processus entièrement automatisé</a:t>
            </a:r>
            <a:endParaRPr lang="en-US" dirty="0">
              <a:solidFill>
                <a:schemeClr val="tx2"/>
              </a:solidFill>
            </a:endParaRPr>
          </a:p>
          <a:p>
            <a:pPr>
              <a:spcBef>
                <a:spcPct val="20000"/>
              </a:spcBef>
              <a:spcAft>
                <a:spcPts val="600"/>
              </a:spcAft>
              <a:buClr>
                <a:schemeClr val="accent2"/>
              </a:buClr>
              <a:buSzPct val="92000"/>
              <a:buFont typeface="Wingdings 2" panose="05020102010507070707" pitchFamily="18" charset="2"/>
              <a:buChar char=""/>
            </a:pPr>
            <a:endParaRPr lang="fr-FR" b="0" i="0" dirty="0">
              <a:solidFill>
                <a:schemeClr val="tx2"/>
              </a:solidFill>
              <a:effectLst/>
            </a:endParaRPr>
          </a:p>
          <a:p>
            <a:pPr>
              <a:spcBef>
                <a:spcPct val="20000"/>
              </a:spcBef>
              <a:spcAft>
                <a:spcPts val="600"/>
              </a:spcAft>
              <a:buClr>
                <a:schemeClr val="accent2"/>
              </a:buClr>
              <a:buSzPct val="92000"/>
              <a:buFont typeface="Wingdings 2" panose="05020102010507070707" pitchFamily="18" charset="2"/>
              <a:buChar char=""/>
            </a:pPr>
            <a:r>
              <a:rPr lang="fr-FR" b="0" i="0" dirty="0">
                <a:solidFill>
                  <a:schemeClr val="tx2"/>
                </a:solidFill>
                <a:effectLst/>
              </a:rPr>
              <a:t>L’exemple suivant décrit l’ordre séquentiel des interactions du système de DAB. Il suffit de cliquer pour modifier le modèle et personnaliser le diagramme de séquence selon vos besoins.</a:t>
            </a:r>
          </a:p>
          <a:p>
            <a:pPr>
              <a:spcBef>
                <a:spcPct val="20000"/>
              </a:spcBef>
              <a:spcAft>
                <a:spcPts val="600"/>
              </a:spcAft>
              <a:buClr>
                <a:schemeClr val="accent2"/>
              </a:buClr>
              <a:buSzPct val="92000"/>
              <a:buFont typeface="Wingdings 2" panose="05020102010507070707" pitchFamily="18" charset="2"/>
              <a:buChar char=""/>
            </a:pPr>
            <a:endParaRPr lang="en-US">
              <a:solidFill>
                <a:schemeClr val="tx2"/>
              </a:solidFill>
            </a:endParaRPr>
          </a:p>
        </p:txBody>
      </p:sp>
      <p:pic>
        <p:nvPicPr>
          <p:cNvPr id="2052" name="Picture 4" descr="Illustration De Concept De Distributeur Automatique De Billets | Vecteur  Premium">
            <a:extLst>
              <a:ext uri="{FF2B5EF4-FFF2-40B4-BE49-F238E27FC236}">
                <a16:creationId xmlns:a16="http://schemas.microsoft.com/office/drawing/2014/main" id="{B3D364AF-4726-6B1A-633B-56A18AB896B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28959" y="2228003"/>
            <a:ext cx="4541308" cy="363304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279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iagramme de séquence d'un système de DAB">
            <a:extLst>
              <a:ext uri="{FF2B5EF4-FFF2-40B4-BE49-F238E27FC236}">
                <a16:creationId xmlns:a16="http://schemas.microsoft.com/office/drawing/2014/main" id="{B31FC9A0-3F59-CE46-C4D5-17B46BA484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183602" y="620713"/>
            <a:ext cx="3824795" cy="616902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826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fr-FR" dirty="0"/>
              <a:t>Conclusion:</a:t>
            </a:r>
            <a:endParaRPr lang="en-US" dirty="0"/>
          </a:p>
        </p:txBody>
      </p:sp>
      <p:sp>
        <p:nvSpPr>
          <p:cNvPr id="5" name="ZoneTexte 4">
            <a:extLst>
              <a:ext uri="{FF2B5EF4-FFF2-40B4-BE49-F238E27FC236}">
                <a16:creationId xmlns:a16="http://schemas.microsoft.com/office/drawing/2014/main" id="{76F06B23-9B33-036B-DAC8-3945035CA92D}"/>
              </a:ext>
            </a:extLst>
          </p:cNvPr>
          <p:cNvSpPr txBox="1"/>
          <p:nvPr/>
        </p:nvSpPr>
        <p:spPr>
          <a:xfrm>
            <a:off x="581192" y="2228003"/>
            <a:ext cx="11182439" cy="3633047"/>
          </a:xfrm>
          <a:prstGeom prst="rect">
            <a:avLst/>
          </a:prstGeom>
        </p:spPr>
        <p:txBody>
          <a:bodyPr vert="horz" lIns="91440" tIns="45720" rIns="91440" bIns="45720" rtlCol="0" anchor="ctr">
            <a:normAutofit/>
          </a:bodyPr>
          <a:lstStyle/>
          <a:p>
            <a:pPr>
              <a:spcBef>
                <a:spcPct val="20000"/>
              </a:spcBef>
              <a:spcAft>
                <a:spcPts val="600"/>
              </a:spcAft>
              <a:buClr>
                <a:schemeClr val="accent2"/>
              </a:buClr>
              <a:buSzPct val="92000"/>
              <a:buFont typeface="Wingdings 2" panose="05020102010507070707" pitchFamily="18" charset="2"/>
              <a:buChar char=""/>
            </a:pPr>
            <a:r>
              <a:rPr lang="fr-FR" b="0" i="0" dirty="0">
                <a:solidFill>
                  <a:schemeClr val="tx2"/>
                </a:solidFill>
                <a:effectLst/>
              </a:rPr>
              <a:t>En conclusion, les diagrammes de séquence offrent une représentation visuelle claire des interactions entre objets dans un système logiciel. Ils comprennent des acteurs, des objets, des messages, et simplifient la compréhension et la communication dans le processus de conception. Utilisés couramment en ingénierie logicielle, ces diagrammes aident à visualiser le flux d'exécution et à améliorer la collaboration entre les membres de l'équipe de développement.</a:t>
            </a:r>
            <a:endParaRPr lang="en-US" dirty="0">
              <a:solidFill>
                <a:schemeClr val="tx2"/>
              </a:solidFill>
            </a:endParaRPr>
          </a:p>
        </p:txBody>
      </p:sp>
    </p:spTree>
    <p:extLst>
      <p:ext uri="{BB962C8B-B14F-4D97-AF65-F5344CB8AC3E}">
        <p14:creationId xmlns:p14="http://schemas.microsoft.com/office/powerpoint/2010/main" val="4034743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5354" y="2194323"/>
            <a:ext cx="3081576" cy="2469354"/>
          </a:xfrm>
        </p:spPr>
        <p:txBody>
          <a:bodyPr>
            <a:normAutofit/>
          </a:bodyPr>
          <a:lstStyle/>
          <a:p>
            <a:pPr algn="ctr"/>
            <a:r>
              <a:rPr lang="en-US" dirty="0">
                <a:solidFill>
                  <a:srgbClr val="FFFFFF"/>
                </a:solidFill>
                <a:latin typeface="Baskerville Old Face" panose="02020602080505020303" pitchFamily="18" charset="0"/>
              </a:rPr>
              <a:t>Merci </a:t>
            </a:r>
            <a:br>
              <a:rPr lang="en-US" dirty="0">
                <a:solidFill>
                  <a:srgbClr val="FFFFFF"/>
                </a:solidFill>
                <a:latin typeface="Baskerville Old Face" panose="02020602080505020303" pitchFamily="18" charset="0"/>
              </a:rPr>
            </a:br>
            <a:r>
              <a:rPr lang="en-US" dirty="0">
                <a:solidFill>
                  <a:srgbClr val="FFFFFF"/>
                </a:solidFill>
                <a:latin typeface="Baskerville Old Face" panose="02020602080505020303" pitchFamily="18" charset="0"/>
              </a:rPr>
              <a:t>pour </a:t>
            </a:r>
            <a:r>
              <a:rPr lang="en-US" dirty="0" err="1">
                <a:solidFill>
                  <a:srgbClr val="FFFFFF"/>
                </a:solidFill>
                <a:latin typeface="Baskerville Old Face" panose="02020602080505020303" pitchFamily="18" charset="0"/>
              </a:rPr>
              <a:t>votre</a:t>
            </a:r>
            <a:r>
              <a:rPr lang="en-US" dirty="0">
                <a:solidFill>
                  <a:srgbClr val="FFFFFF"/>
                </a:solidFill>
                <a:latin typeface="Baskerville Old Face" panose="02020602080505020303" pitchFamily="18" charset="0"/>
              </a:rPr>
              <a:t> attention!</a:t>
            </a:r>
          </a:p>
        </p:txBody>
      </p:sp>
      <p:pic>
        <p:nvPicPr>
          <p:cNvPr id="4102" name="Picture 6" descr="Presentation present presenting Vectors &amp; Illustrations for Free Download |  Freepik">
            <a:extLst>
              <a:ext uri="{FF2B5EF4-FFF2-40B4-BE49-F238E27FC236}">
                <a16:creationId xmlns:a16="http://schemas.microsoft.com/office/drawing/2014/main" id="{650BC7D7-89FE-1822-B0A2-5761996208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56" y="890458"/>
            <a:ext cx="8006717" cy="5333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64</TotalTime>
  <Words>450</Words>
  <Application>Microsoft Office PowerPoint</Application>
  <PresentationFormat>Grand écran</PresentationFormat>
  <Paragraphs>31</Paragraphs>
  <Slides>11</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Arial</vt:lpstr>
      <vt:lpstr>Baskerville Old Face</vt:lpstr>
      <vt:lpstr>Calibri</vt:lpstr>
      <vt:lpstr>Gill Sans MT</vt:lpstr>
      <vt:lpstr>Graphik</vt:lpstr>
      <vt:lpstr>Söhne</vt:lpstr>
      <vt:lpstr>Wingdings 2</vt:lpstr>
      <vt:lpstr>Custom</vt:lpstr>
      <vt:lpstr>Diagramme de séquence</vt:lpstr>
      <vt:lpstr>Définition</vt:lpstr>
      <vt:lpstr>types de diagrammes de séquence</vt:lpstr>
      <vt:lpstr>Composants et symboles élémentaires</vt:lpstr>
      <vt:lpstr>Composants et symboles élémentaires</vt:lpstr>
      <vt:lpstr>symboles de messages courants</vt:lpstr>
      <vt:lpstr>symboles de messages courants</vt:lpstr>
      <vt:lpstr>Exemple : Diagramme de séquence pour les systèmes de distributeurs automatiques de billets (DAB) </vt:lpstr>
      <vt:lpstr>Présentation PowerPoint</vt:lpstr>
      <vt:lpstr>Conclusion:</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Diagramme de séquence</dc:title>
  <dc:creator>hiba.achiche</dc:creator>
  <cp:lastModifiedBy>hiba.achiche</cp:lastModifiedBy>
  <cp:revision>2</cp:revision>
  <dcterms:created xsi:type="dcterms:W3CDTF">2023-11-24T09:09:08Z</dcterms:created>
  <dcterms:modified xsi:type="dcterms:W3CDTF">2023-11-24T10:13:15Z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